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01620" y="1215390"/>
            <a:ext cx="1955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b="1" sz="1200">
                <a:solidFill>
                  <a:srgbClr val="000000"/>
                </a:solidFill>
                <a:latin typeface="Roboto"/>
              </a:rPr>
              <a:t>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5519" y="1593850"/>
            <a:ext cx="558927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7" b="1" sz="2000">
                <a:solidFill>
                  <a:srgbClr val="000000"/>
                </a:solidFill>
                <a:latin typeface="Roboto"/>
              </a:rPr>
              <a:t>Script Control ACL: Restricted Record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1900" y="1911350"/>
            <a:ext cx="255524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7" b="1" sz="2000">
                <a:solidFill>
                  <a:srgbClr val="000000"/>
                </a:solidFill>
                <a:latin typeface="Roboto"/>
              </a:rPr>
              <a:t>Based on Field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69820" y="2434590"/>
            <a:ext cx="28206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b="1" sz="1200">
                <a:solidFill>
                  <a:srgbClr val="000000"/>
                </a:solidFill>
                <a:latin typeface="Roboto"/>
              </a:rPr>
              <a:t>ServiceNow Access Control &amp; Security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00430" y="3009900"/>
          <a:ext cx="5759450" cy="1257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1300"/>
                <a:gridCol w="424815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85090" algn="l">
                        <a:lnSpc>
                          <a:spcPts val="1050"/>
                        </a:lnSpc>
                      </a:pPr>
                      <a:r>
                        <a:rPr spc="-6" sz="1050">
                          <a:solidFill>
                            <a:srgbClr val="000000"/>
                          </a:solidFill>
                          <a:latin typeface="Roboto"/>
                        </a:rPr>
                        <a:t>Project Title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4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"/>
                        </a:lnSpc>
                      </a:pPr>
                    </a:p>
                    <a:p>
                      <a:pPr marL="85090" algn="l">
                        <a:lnSpc>
                          <a:spcPts val="1500"/>
                        </a:lnSpc>
                      </a:pPr>
                      <a:r>
                        <a:rPr spc="5" sz="1050">
                          <a:solidFill>
                            <a:srgbClr val="000000"/>
                          </a:solidFill>
                          <a:latin typeface="Roboto"/>
                        </a:rPr>
                        <a:t>Script Control ACL – Restricted Record Access Based on Field</a:t>
                      </a:r>
                      <a:br/>
                      <a:r>
                        <a:rPr spc="11" sz="1050">
                          <a:solidFill>
                            <a:srgbClr val="000000"/>
                          </a:solidFill>
                          <a:latin typeface="Roboto"/>
                        </a:rPr>
                        <a:t>Value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85090" algn="l">
                        <a:lnSpc>
                          <a:spcPts val="1050"/>
                        </a:lnSpc>
                      </a:pPr>
                      <a:r>
                        <a:rPr spc="-2" sz="1050">
                          <a:solidFill>
                            <a:srgbClr val="000000"/>
                          </a:solidFill>
                          <a:latin typeface="Roboto"/>
                        </a:rPr>
                        <a:t>Technology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4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85090" algn="l">
                        <a:lnSpc>
                          <a:spcPts val="1050"/>
                        </a:lnSpc>
                      </a:pPr>
                      <a:r>
                        <a:rPr spc="-3" sz="1050">
                          <a:solidFill>
                            <a:srgbClr val="000000"/>
                          </a:solidFill>
                          <a:latin typeface="Roboto"/>
                        </a:rPr>
                        <a:t>ServiceNow / Access Control List (ACL) / Script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85090" algn="l">
                        <a:lnSpc>
                          <a:spcPts val="1050"/>
                        </a:lnSpc>
                      </a:pPr>
                      <a:r>
                        <a:rPr spc="3" sz="1050">
                          <a:solidFill>
                            <a:srgbClr val="000000"/>
                          </a:solidFill>
                          <a:latin typeface="Roboto"/>
                        </a:rPr>
                        <a:t>Project Type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4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85090" algn="l">
                        <a:lnSpc>
                          <a:spcPts val="1050"/>
                        </a:lnSpc>
                      </a:pPr>
                      <a:r>
                        <a:rPr spc="8" sz="1050">
                          <a:solidFill>
                            <a:srgbClr val="000000"/>
                          </a:solidFill>
                          <a:latin typeface="Roboto"/>
                        </a:rPr>
                        <a:t>Security &amp; Record-Level Access Control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85090" algn="l">
                        <a:lnSpc>
                          <a:spcPts val="1050"/>
                        </a:lnSpc>
                      </a:pPr>
                      <a:r>
                        <a:rPr spc="4" sz="1050">
                          <a:solidFill>
                            <a:srgbClr val="000000"/>
                          </a:solidFill>
                          <a:latin typeface="Roboto"/>
                        </a:rPr>
                        <a:t>Objective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80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4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85090" algn="l">
                        <a:lnSpc>
                          <a:spcPts val="1050"/>
                        </a:lnSpc>
                      </a:pPr>
                      <a:r>
                        <a:rPr spc="0" sz="1050">
                          <a:solidFill>
                            <a:srgbClr val="000000"/>
                          </a:solidFill>
                          <a:latin typeface="Roboto"/>
                        </a:rPr>
                        <a:t>Restrict record access dynamically based on a field value</a:t>
                      </a:r>
                    </a:p>
                  </a:txBody>
                  <a:tcPr marL="0" marR="0" marT="0" marB="0" vert="horz">
                    <a:lnL w="380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157220" y="10358120"/>
            <a:ext cx="124587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800">
                <a:solidFill>
                  <a:srgbClr val="000000"/>
                </a:solidFill>
                <a:latin typeface="Roboto"/>
              </a:rPr>
              <a:t>Script Control ACL | 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626110"/>
            <a:ext cx="1323339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500">
                <a:solidFill>
                  <a:srgbClr val="000000"/>
                </a:solidFill>
                <a:latin typeface="Roboto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956310"/>
            <a:ext cx="59880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Access Control Lists (ACLs) in ServiceNow determine whether a user can access a table or a specific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1146810"/>
            <a:ext cx="609980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record. In this project, a Script Control ACL is used to make the access decision dynamically. Instead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337310"/>
            <a:ext cx="627760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granting access only from roles, the ACL checks a selected field value on the record and permits or denies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527810"/>
            <a:ext cx="11633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000000"/>
                </a:solidFill>
                <a:latin typeface="Roboto"/>
              </a:rPr>
              <a:t>access accordingly.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010410"/>
            <a:ext cx="1767839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b="1" sz="1500">
                <a:solidFill>
                  <a:srgbClr val="000000"/>
                </a:solidFill>
                <a:latin typeface="Roboto"/>
              </a:rPr>
              <a:t>2. Project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340610"/>
            <a:ext cx="639190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The main objective is to implement field-based record security. Only users who satisfy the defined field-value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531110"/>
            <a:ext cx="62115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000000"/>
                </a:solidFill>
                <a:latin typeface="Roboto"/>
              </a:rPr>
              <a:t>condition should be allowed to access the restricted record. Users who do not satisfy the condition should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721610"/>
            <a:ext cx="19126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050">
                <a:solidFill>
                  <a:srgbClr val="000000"/>
                </a:solidFill>
                <a:latin typeface="Roboto"/>
              </a:rPr>
              <a:t>receive an access-denied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3204210"/>
            <a:ext cx="194818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500">
                <a:solidFill>
                  <a:srgbClr val="000000"/>
                </a:solidFill>
                <a:latin typeface="Roboto"/>
              </a:rPr>
              <a:t>3. 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3534410"/>
            <a:ext cx="623315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50">
                <a:solidFill>
                  <a:srgbClr val="000000"/>
                </a:solidFill>
                <a:latin typeface="Roboto"/>
              </a:rPr>
              <a:t>Standard role-based ACLs may not be sufficient when access depends on data stored in each record.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724910"/>
            <a:ext cx="56032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050">
                <a:solidFill>
                  <a:srgbClr val="000000"/>
                </a:solidFill>
                <a:latin typeface="Roboto"/>
              </a:rPr>
              <a:t>example, access may need to depend on Department, Assignment Group, Company, Location,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3915410"/>
            <a:ext cx="61518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Confidentiality, or another business field. The project solves this requirement through scripted ACL logic.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4398010"/>
            <a:ext cx="1905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b="1" sz="1500">
                <a:solidFill>
                  <a:srgbClr val="000000"/>
                </a:solidFill>
                <a:latin typeface="Roboto"/>
              </a:rPr>
              <a:t>4. Proposed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4728210"/>
            <a:ext cx="63804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A record-level ACL is configured with a script. When a user attempts to access a record, the script evaluates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4918710"/>
            <a:ext cx="59880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the relevant field value and sets the access decision. The approach provides dynamic, record-specific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5109210"/>
            <a:ext cx="49352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authorization while keeping the security rule inside the ServiceNow ACL framework.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5591810"/>
            <a:ext cx="14605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b="1" sz="1500">
                <a:solidFill>
                  <a:srgbClr val="000000"/>
                </a:solidFill>
                <a:latin typeface="Roboto"/>
              </a:rPr>
              <a:t>5. Working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5922010"/>
            <a:ext cx="15417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050">
                <a:solidFill>
                  <a:srgbClr val="000000"/>
                </a:solidFill>
                <a:latin typeface="Roboto"/>
              </a:rPr>
              <a:t>1. User requests a record.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6201410"/>
            <a:ext cx="26606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050">
                <a:solidFill>
                  <a:srgbClr val="000000"/>
                </a:solidFill>
                <a:latin typeface="Roboto"/>
              </a:rPr>
              <a:t>2. ServiceNow evaluates the applicable ACL.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480810"/>
            <a:ext cx="2957829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50">
                <a:solidFill>
                  <a:srgbClr val="000000"/>
                </a:solidFill>
                <a:latin typeface="Roboto"/>
              </a:rPr>
              <a:t>3. The ACL script reads the configured field value.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760209"/>
            <a:ext cx="38100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4. The script compares the field value with the allowed condition.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7039609"/>
            <a:ext cx="282447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5. If the condition is satisfied, access is granted.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7319009"/>
            <a:ext cx="18453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050">
                <a:solidFill>
                  <a:srgbClr val="000000"/>
                </a:solidFill>
                <a:latin typeface="Roboto"/>
              </a:rPr>
              <a:t>6. Otherwise, access is denied.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7801609"/>
            <a:ext cx="1905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8" b="1" sz="1500">
                <a:solidFill>
                  <a:srgbClr val="000000"/>
                </a:solidFill>
                <a:latin typeface="Roboto"/>
              </a:rPr>
              <a:t>6. ACL Configuration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8131809"/>
            <a:ext cx="58991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Recommended configuration includes: select the required table; choose the appropriate record-level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8322309"/>
            <a:ext cx="5314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050">
                <a:solidFill>
                  <a:srgbClr val="000000"/>
                </a:solidFill>
                <a:latin typeface="Roboto"/>
              </a:rPr>
              <a:t>operation such as Read; define the required role or condition where applicable; enable the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8512810"/>
            <a:ext cx="639190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Advanced/Scripted logic; and write the script that evaluates the target field value. The exact field and allowed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8703310"/>
            <a:ext cx="38569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value should be replaced with the project's business requirement.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9185910"/>
            <a:ext cx="230759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b="1" sz="1500">
                <a:solidFill>
                  <a:srgbClr val="000000"/>
                </a:solidFill>
                <a:latin typeface="Roboto"/>
              </a:rPr>
              <a:t>7. Script Logic – Example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9516110"/>
            <a:ext cx="8674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050">
                <a:solidFill>
                  <a:srgbClr val="000000"/>
                </a:solidFill>
                <a:latin typeface="Roboto"/>
              </a:rPr>
              <a:t>Example logic: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9795510"/>
            <a:ext cx="9004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050">
                <a:solidFill>
                  <a:srgbClr val="000000"/>
                </a:solidFill>
                <a:latin typeface="Roboto"/>
              </a:rPr>
              <a:t>answer = false;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7220" y="10358120"/>
            <a:ext cx="124587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800">
                <a:solidFill>
                  <a:srgbClr val="000000"/>
                </a:solidFill>
                <a:latin typeface="Roboto"/>
              </a:rPr>
              <a:t>Script Control ACL |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613410"/>
            <a:ext cx="31711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50">
                <a:solidFill>
                  <a:srgbClr val="000000"/>
                </a:solidFill>
                <a:latin typeface="Roboto"/>
              </a:rPr>
              <a:t>if (current.u_access_control_field == 'AllowedValue') {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00" y="892810"/>
            <a:ext cx="8483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050">
                <a:solidFill>
                  <a:srgbClr val="000000"/>
                </a:solidFill>
                <a:latin typeface="Roboto"/>
              </a:rPr>
              <a:t>answer = true;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1172210"/>
            <a:ext cx="444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050">
                <a:solidFill>
                  <a:srgbClr val="000000"/>
                </a:solidFill>
                <a:latin typeface="Roboto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451610"/>
            <a:ext cx="58699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The field name and allowed value are placeholders. They must be replaced with the actual field 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642110"/>
            <a:ext cx="20459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business value used in the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124710"/>
            <a:ext cx="1831339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1" b="1" sz="1500">
                <a:solidFill>
                  <a:srgbClr val="000000"/>
                </a:solidFill>
                <a:latin typeface="Roboto"/>
              </a:rPr>
              <a:t>8. Security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2454910"/>
            <a:ext cx="639190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Allowed condition: the user can access the record when the required field value matches the configured rule.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734310"/>
            <a:ext cx="60782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Restricted condition: when the field value does not match the rule, the ACL returns false and the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924810"/>
            <a:ext cx="10223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access is denied.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3204210"/>
            <a:ext cx="31280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This creates field-based authorization at record level.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3686810"/>
            <a:ext cx="1704339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b="1" sz="1500">
                <a:solidFill>
                  <a:srgbClr val="000000"/>
                </a:solidFill>
                <a:latin typeface="Roboto"/>
              </a:rPr>
              <a:t>9. Testing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4017010"/>
            <a:ext cx="614425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Test cases should cover positive and negative scenarios: matching field value, non-matching field value,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4207510"/>
            <a:ext cx="60032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empty/null field value, authorized role, unauthorized role, and attempts to access multiple records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4398010"/>
            <a:ext cx="627760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different field values. Each test should capture the expected result, actual result, and evidence/screenshot.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4880610"/>
            <a:ext cx="1799589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3" b="1" sz="1500">
                <a:solidFill>
                  <a:srgbClr val="000000"/>
                </a:solidFill>
                <a:latin typeface="Roboto"/>
              </a:rPr>
              <a:t>10. Expected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5210810"/>
            <a:ext cx="59143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000000"/>
                </a:solidFill>
                <a:latin typeface="Roboto"/>
              </a:rPr>
              <a:t>The system should allow access only when the ACL script condition is satisfied. Records that fail 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5401310"/>
            <a:ext cx="61150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field-value condition should remain restricted. The implementation should therefore enforce the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5591810"/>
            <a:ext cx="36017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business security rule consistently across applicable records.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074410"/>
            <a:ext cx="139700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1500">
                <a:solidFill>
                  <a:srgbClr val="000000"/>
                </a:solidFill>
                <a:latin typeface="Roboto"/>
              </a:rPr>
              <a:t>11. Advantages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6404610"/>
            <a:ext cx="2225040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• Dynamic record-level access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684009"/>
            <a:ext cx="19443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050">
                <a:solidFill>
                  <a:srgbClr val="000000"/>
                </a:solidFill>
                <a:latin typeface="Roboto"/>
              </a:rPr>
              <a:t>• Field-value-based authorization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963409"/>
            <a:ext cx="24180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50">
                <a:solidFill>
                  <a:srgbClr val="000000"/>
                </a:solidFill>
                <a:latin typeface="Roboto"/>
              </a:rPr>
              <a:t>• Centralized security logic through ACLs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7242809"/>
            <a:ext cx="31076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• Reduces unintended exposure of restricted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7522209"/>
            <a:ext cx="29806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• Supports business-specific security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7801609"/>
            <a:ext cx="316737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50">
                <a:solidFill>
                  <a:srgbClr val="000000"/>
                </a:solidFill>
                <a:latin typeface="Roboto"/>
              </a:rPr>
              <a:t>• Can be tested using positive and negative scenarios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8284209"/>
            <a:ext cx="1355089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b="1" sz="1500">
                <a:solidFill>
                  <a:srgbClr val="000000"/>
                </a:solidFill>
                <a:latin typeface="Roboto"/>
              </a:rPr>
              <a:t>12. 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8614410"/>
            <a:ext cx="62103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The Script Control ACL approach provides a practical way to restrict ServiceNow record access based 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8804910"/>
            <a:ext cx="614425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field values. By evaluating the record during ACL processing, the project supports dynamic authorization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8995410"/>
            <a:ext cx="63512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050">
                <a:solidFill>
                  <a:srgbClr val="000000"/>
                </a:solidFill>
                <a:latin typeface="Roboto"/>
              </a:rPr>
              <a:t>instead of relying only on static role permissions. Proper testing and documentation are important to confirm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9185910"/>
            <a:ext cx="37287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that both allowed and restricted scenarios behave as expected.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7220" y="10358120"/>
            <a:ext cx="124587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800">
                <a:solidFill>
                  <a:srgbClr val="000000"/>
                </a:solidFill>
                <a:latin typeface="Roboto"/>
              </a:rPr>
              <a:t>Script Control ACL | 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4200" y="626110"/>
            <a:ext cx="265684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b="1" sz="1500">
                <a:solidFill>
                  <a:srgbClr val="000000"/>
                </a:solidFill>
                <a:latin typeface="Roboto"/>
              </a:rPr>
              <a:t>13. Presentation / Viva Points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00430" y="927100"/>
          <a:ext cx="5759448" cy="2552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9589"/>
                <a:gridCol w="3959859"/>
              </a:tblGrid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2" sz="1050">
                          <a:solidFill>
                            <a:srgbClr val="000000"/>
                          </a:solidFill>
                          <a:latin typeface="Roboto"/>
                        </a:rPr>
                        <a:t>Question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d3d3d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</a:p>
                    <a:p>
                      <a:pPr marL="73660" algn="l">
                        <a:lnSpc>
                          <a:spcPts val="1050"/>
                        </a:lnSpc>
                      </a:pPr>
                      <a:r>
                        <a:rPr spc="-2" sz="1050">
                          <a:solidFill>
                            <a:srgbClr val="000000"/>
                          </a:solidFill>
                          <a:latin typeface="Roboto"/>
                        </a:rPr>
                        <a:t>Answer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d3d3d3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19" sz="1050">
                          <a:solidFill>
                            <a:srgbClr val="000000"/>
                          </a:solidFill>
                          <a:latin typeface="Roboto"/>
                        </a:rPr>
                        <a:t>What is an ACL?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"/>
                        </a:lnSpc>
                      </a:pPr>
                    </a:p>
                    <a:p>
                      <a:pPr marL="73660" algn="l">
                        <a:lnSpc>
                          <a:spcPts val="1500"/>
                        </a:lnSpc>
                      </a:pPr>
                      <a:r>
                        <a:rPr spc="-2" sz="1050">
                          <a:solidFill>
                            <a:srgbClr val="000000"/>
                          </a:solidFill>
                          <a:latin typeface="Roboto"/>
                        </a:rPr>
                        <a:t>An Access Control List controls whether a user can perform an</a:t>
                      </a:r>
                      <a:br/>
                      <a:r>
                        <a:rPr spc="3" sz="1050">
                          <a:solidFill>
                            <a:srgbClr val="000000"/>
                          </a:solidFill>
                          <a:latin typeface="Roboto"/>
                        </a:rPr>
                        <a:t>operation on a ServiceNow resource.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10" sz="1050">
                          <a:solidFill>
                            <a:srgbClr val="000000"/>
                          </a:solidFill>
                          <a:latin typeface="Roboto"/>
                        </a:rPr>
                        <a:t>Why use a script?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"/>
                        </a:lnSpc>
                      </a:pPr>
                    </a:p>
                    <a:p>
                      <a:pPr marL="73660" algn="l">
                        <a:lnSpc>
                          <a:spcPts val="1500"/>
                        </a:lnSpc>
                      </a:pPr>
                      <a:r>
                        <a:rPr spc="-3" sz="1050">
                          <a:solidFill>
                            <a:srgbClr val="000000"/>
                          </a:solidFill>
                          <a:latin typeface="Roboto"/>
                        </a:rPr>
                        <a:t>A script allows the access decision to depend dynamically on</a:t>
                      </a:r>
                      <a:br/>
                      <a:r>
                        <a:rPr spc="-3" sz="1050">
                          <a:solidFill>
                            <a:srgbClr val="000000"/>
                          </a:solidFill>
                          <a:latin typeface="Roboto"/>
                        </a:rPr>
                        <a:t>record data.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60"/>
                        </a:lnSpc>
                      </a:pPr>
                    </a:p>
                    <a:p>
                      <a:pPr marL="72390" algn="l">
                        <a:lnSpc>
                          <a:spcPts val="1500"/>
                        </a:lnSpc>
                      </a:pPr>
                      <a:r>
                        <a:rPr spc="0" sz="1050">
                          <a:solidFill>
                            <a:srgbClr val="000000"/>
                          </a:solidFill>
                          <a:latin typeface="Roboto"/>
                        </a:rPr>
                        <a:t>What is field-based</a:t>
                      </a:r>
                      <a:br/>
                      <a:r>
                        <a:rPr spc="6" sz="1050">
                          <a:solidFill>
                            <a:srgbClr val="000000"/>
                          </a:solidFill>
                          <a:latin typeface="Roboto"/>
                        </a:rPr>
                        <a:t>access?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"/>
                        </a:lnSpc>
                      </a:pPr>
                    </a:p>
                    <a:p>
                      <a:pPr marL="73660" algn="l">
                        <a:lnSpc>
                          <a:spcPts val="1500"/>
                        </a:lnSpc>
                      </a:pPr>
                      <a:r>
                        <a:rPr spc="0" sz="1050">
                          <a:solidFill>
                            <a:srgbClr val="000000"/>
                          </a:solidFill>
                          <a:latin typeface="Roboto"/>
                        </a:rPr>
                        <a:t>Access is granted or denied according to the value stored in a</a:t>
                      </a:r>
                      <a:br/>
                      <a:r>
                        <a:rPr spc="-5" sz="1050">
                          <a:solidFill>
                            <a:srgbClr val="000000"/>
                          </a:solidFill>
                          <a:latin typeface="Roboto"/>
                        </a:rPr>
                        <a:t>selected record field.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60"/>
                        </a:lnSpc>
                      </a:pPr>
                    </a:p>
                    <a:p>
                      <a:pPr marL="72390" algn="l">
                        <a:lnSpc>
                          <a:spcPts val="1500"/>
                        </a:lnSpc>
                      </a:pPr>
                      <a:r>
                        <a:rPr spc="5" sz="1050">
                          <a:solidFill>
                            <a:srgbClr val="000000"/>
                          </a:solidFill>
                          <a:latin typeface="Roboto"/>
                        </a:rPr>
                        <a:t>What happens when the</a:t>
                      </a:r>
                      <a:br/>
                      <a:r>
                        <a:rPr spc="-10" sz="1050">
                          <a:solidFill>
                            <a:srgbClr val="000000"/>
                          </a:solidFill>
                          <a:latin typeface="Roboto"/>
                        </a:rPr>
                        <a:t>condition fails?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</a:p>
                    <a:p>
                      <a:pPr marL="73660" algn="l">
                        <a:lnSpc>
                          <a:spcPts val="1050"/>
                        </a:lnSpc>
                      </a:pPr>
                      <a:r>
                        <a:rPr spc="4" sz="1050">
                          <a:solidFill>
                            <a:srgbClr val="000000"/>
                          </a:solidFill>
                          <a:latin typeface="Roboto"/>
                        </a:rPr>
                        <a:t>The ACL evaluates to false and access is denied.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60"/>
                        </a:lnSpc>
                      </a:pPr>
                    </a:p>
                    <a:p>
                      <a:pPr marL="72390" algn="l">
                        <a:lnSpc>
                          <a:spcPts val="1500"/>
                        </a:lnSpc>
                      </a:pPr>
                      <a:r>
                        <a:rPr spc="3" sz="1050">
                          <a:solidFill>
                            <a:srgbClr val="000000"/>
                          </a:solidFill>
                          <a:latin typeface="Roboto"/>
                        </a:rPr>
                        <a:t>Why test negative</a:t>
                      </a:r>
                      <a:br/>
                      <a:r>
                        <a:rPr spc="2" sz="1050">
                          <a:solidFill>
                            <a:srgbClr val="000000"/>
                          </a:solidFill>
                          <a:latin typeface="Roboto"/>
                        </a:rPr>
                        <a:t>scenarios?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"/>
                        </a:lnSpc>
                      </a:pPr>
                    </a:p>
                    <a:p>
                      <a:pPr marL="73660" algn="l">
                        <a:lnSpc>
                          <a:spcPts val="1500"/>
                        </a:lnSpc>
                      </a:pPr>
                      <a:r>
                        <a:rPr spc="-2" sz="1050">
                          <a:solidFill>
                            <a:srgbClr val="000000"/>
                          </a:solidFill>
                          <a:latin typeface="Roboto"/>
                        </a:rPr>
                        <a:t>To verify that restricted records cannot be accessed when the</a:t>
                      </a:r>
                      <a:br/>
                      <a:r>
                        <a:rPr spc="-12" sz="1050">
                          <a:solidFill>
                            <a:srgbClr val="000000"/>
                          </a:solidFill>
                          <a:latin typeface="Roboto"/>
                        </a:rPr>
                        <a:t>field condition is not satisfied.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84200" y="3771900"/>
            <a:ext cx="626364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900">
                <a:solidFill>
                  <a:srgbClr val="000000"/>
                </a:solidFill>
                <a:latin typeface="Roboto"/>
              </a:rPr>
              <a:t>Reference format: the uploaded project document identifies a project-development/model-performance testing structure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3928110"/>
            <a:ext cx="3702050" cy="1231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900">
                <a:solidFill>
                  <a:srgbClr val="000000"/>
                </a:solidFill>
                <a:latin typeface="Roboto"/>
              </a:rPr>
              <a:t>parameters, tuning and validation sections. </a:t>
            </a:r>
            <a:r>
              <a:rPr spc="435" sz="900">
                <a:solidFill>
                  <a:srgbClr val="000000"/>
                </a:solidFill>
                <a:latin typeface="Roboto"/>
              </a:rPr>
              <a:t>I</a:t>
            </a:r>
            <a:r>
              <a:rPr spc="-18" sz="900">
                <a:solidFill>
                  <a:srgbClr val="000000"/>
                </a:solidFill>
                <a:latin typeface="Roboto"/>
              </a:rPr>
              <a:t>filecite</a:t>
            </a:r>
            <a:r>
              <a:rPr spc="445" sz="900">
                <a:solidFill>
                  <a:srgbClr val="000000"/>
                </a:solidFill>
                <a:latin typeface="Roboto"/>
              </a:rPr>
              <a:t>I</a:t>
            </a:r>
            <a:r>
              <a:rPr spc="-14" sz="900">
                <a:solidFill>
                  <a:srgbClr val="000000"/>
                </a:solidFill>
                <a:latin typeface="Roboto"/>
              </a:rPr>
              <a:t>turn0file0</a:t>
            </a:r>
            <a:r>
              <a:rPr spc="445" sz="900">
                <a:solidFill>
                  <a:srgbClr val="000000"/>
                </a:solidFill>
                <a:latin typeface="Roboto"/>
              </a:rPr>
              <a:t>I</a:t>
            </a:r>
            <a:r>
              <a:rPr spc="10" sz="900">
                <a:solidFill>
                  <a:srgbClr val="000000"/>
                </a:solidFill>
                <a:latin typeface="Roboto"/>
              </a:rPr>
              <a:t>L2-L17</a:t>
            </a:r>
            <a:r>
              <a:rPr spc="435" sz="900">
                <a:solidFill>
                  <a:srgbClr val="000000"/>
                </a:solidFill>
                <a:latin typeface="Roboto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7220" y="10358120"/>
            <a:ext cx="124587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800">
                <a:solidFill>
                  <a:srgbClr val="000000"/>
                </a:solidFill>
                <a:latin typeface="Roboto"/>
              </a:rPr>
              <a:t>Script Control ACL | Page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