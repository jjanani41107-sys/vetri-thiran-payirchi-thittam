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42439" y="1407160"/>
            <a:ext cx="4075430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b="1" sz="2500">
                <a:solidFill>
                  <a:srgbClr val="000000"/>
                </a:solidFill>
                <a:latin typeface="Roboto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2830" y="2213610"/>
            <a:ext cx="545465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400">
                <a:solidFill>
                  <a:srgbClr val="000000"/>
                </a:solidFill>
                <a:latin typeface="Roboto"/>
              </a:rPr>
              <a:t>Script Control ACL – Restricted Record Access Based on Field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3400" y="2800350"/>
            <a:ext cx="395224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b="1" sz="1400">
                <a:solidFill>
                  <a:srgbClr val="000000"/>
                </a:solidFill>
                <a:latin typeface="Roboto"/>
              </a:rPr>
              <a:t>ServiceNow Access Control &amp; Record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5340" y="4070350"/>
            <a:ext cx="592963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400">
                <a:solidFill>
                  <a:srgbClr val="000000"/>
                </a:solidFill>
                <a:latin typeface="Roboto"/>
              </a:rPr>
              <a:t>A presentation on controlling record access dynamically according to a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4324350"/>
            <a:ext cx="21640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400">
                <a:solidFill>
                  <a:srgbClr val="000000"/>
                </a:solidFill>
                <a:latin typeface="Roboto"/>
              </a:rPr>
              <a:t>value using a scripted ACL.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9230" y="10373360"/>
            <a:ext cx="210184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185165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b="1" sz="2100">
                <a:solidFill>
                  <a:srgbClr val="000000"/>
                </a:solidFill>
                <a:latin typeface="Roboto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597535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41" b="1" sz="1250">
                <a:solidFill>
                  <a:srgbClr val="000000"/>
                </a:solidFill>
                <a:latin typeface="Roboto"/>
              </a:rPr>
              <a:t>Project Title:</a:t>
            </a:r>
            <a:r>
              <a:rPr spc="8" sz="1250">
                <a:solidFill>
                  <a:srgbClr val="000000"/>
                </a:solidFill>
                <a:latin typeface="Roboto"/>
              </a:rPr>
              <a:t> Script Control ACL – Restricted Record Access Based on Field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427480"/>
            <a:ext cx="393700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48" b="1" sz="1250">
                <a:solidFill>
                  <a:srgbClr val="000000"/>
                </a:solidFill>
                <a:latin typeface="Roboto"/>
              </a:rPr>
              <a:t>Project Area:</a:t>
            </a:r>
            <a:r>
              <a:rPr spc="-1" sz="1250">
                <a:solidFill>
                  <a:srgbClr val="000000"/>
                </a:solidFill>
                <a:latin typeface="Roboto"/>
              </a:rPr>
              <a:t> ServiceNow security and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757680"/>
            <a:ext cx="601980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57" b="1" sz="1250">
                <a:solidFill>
                  <a:srgbClr val="000000"/>
                </a:solidFill>
                <a:latin typeface="Roboto"/>
              </a:rPr>
              <a:t>Objective:</a:t>
            </a:r>
            <a:r>
              <a:rPr spc="0" sz="1250">
                <a:solidFill>
                  <a:srgbClr val="000000"/>
                </a:solidFill>
                <a:latin typeface="Roboto"/>
              </a:rPr>
              <a:t> Control access to records by evaluating a selected field value through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1380" y="1986280"/>
            <a:ext cx="77596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250">
                <a:solidFill>
                  <a:srgbClr val="000000"/>
                </a:solidFill>
                <a:latin typeface="Roboto"/>
              </a:rPr>
              <a:t>ACL script.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316480"/>
            <a:ext cx="569722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53" b="1" sz="1250">
                <a:solidFill>
                  <a:srgbClr val="000000"/>
                </a:solidFill>
                <a:latin typeface="Roboto"/>
              </a:rPr>
              <a:t>Core idea:</a:t>
            </a:r>
            <a:r>
              <a:rPr spc="-2" sz="1250">
                <a:solidFill>
                  <a:srgbClr val="000000"/>
                </a:solidFill>
                <a:latin typeface="Roboto"/>
              </a:rPr>
              <a:t> The record's field value is used as part of the authorization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9230" y="10373360"/>
            <a:ext cx="210184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245999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b="1" sz="2100">
                <a:solidFill>
                  <a:srgbClr val="000000"/>
                </a:solidFill>
                <a:latin typeface="Roboto"/>
              </a:rPr>
              <a:t>2.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588645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61" b="1" sz="1250">
                <a:solidFill>
                  <a:srgbClr val="000000"/>
                </a:solidFill>
                <a:latin typeface="Roboto"/>
              </a:rPr>
              <a:t>Purpose:</a:t>
            </a:r>
            <a:r>
              <a:rPr spc="-4" sz="1250">
                <a:solidFill>
                  <a:srgbClr val="000000"/>
                </a:solidFill>
                <a:latin typeface="Roboto"/>
              </a:rPr>
              <a:t> Restrict access to records that contain a particular field value or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" y="1325880"/>
            <a:ext cx="38735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5" sz="1250">
                <a:solidFill>
                  <a:srgbClr val="000000"/>
                </a:solidFill>
                <a:latin typeface="Roboto"/>
              </a:rPr>
              <a:t>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656080"/>
            <a:ext cx="608965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53" b="1" sz="1250">
                <a:solidFill>
                  <a:srgbClr val="000000"/>
                </a:solidFill>
                <a:latin typeface="Roboto"/>
              </a:rPr>
              <a:t>Problem:</a:t>
            </a:r>
            <a:r>
              <a:rPr spc="-5" sz="1250">
                <a:solidFill>
                  <a:srgbClr val="000000"/>
                </a:solidFill>
                <a:latin typeface="Roboto"/>
              </a:rPr>
              <a:t> A simple broad permission may allow access to records that should remain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1380" y="1884680"/>
            <a:ext cx="69596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" sz="1250">
                <a:solidFill>
                  <a:srgbClr val="000000"/>
                </a:solidFill>
                <a:latin typeface="Roboto"/>
              </a:rPr>
              <a:t>restricted.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214880"/>
            <a:ext cx="591312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61" b="1" sz="1250">
                <a:solidFill>
                  <a:srgbClr val="000000"/>
                </a:solidFill>
                <a:latin typeface="Roboto"/>
              </a:rPr>
              <a:t>Solution:</a:t>
            </a:r>
            <a:r>
              <a:rPr spc="5" sz="1250">
                <a:solidFill>
                  <a:srgbClr val="000000"/>
                </a:solidFill>
                <a:latin typeface="Roboto"/>
              </a:rPr>
              <a:t> Use an ACL script to evaluate the current record and apply a field-based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380" y="2443480"/>
            <a:ext cx="84581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50">
                <a:solidFill>
                  <a:srgbClr val="000000"/>
                </a:solidFill>
                <a:latin typeface="Roboto"/>
              </a:rPr>
              <a:t>access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080" y="2773680"/>
            <a:ext cx="544576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65" b="1" sz="1250">
                <a:solidFill>
                  <a:srgbClr val="000000"/>
                </a:solidFill>
                <a:latin typeface="Roboto"/>
              </a:rPr>
              <a:t>Result:</a:t>
            </a:r>
            <a:r>
              <a:rPr spc="-3" sz="1250">
                <a:solidFill>
                  <a:srgbClr val="000000"/>
                </a:solidFill>
                <a:latin typeface="Roboto"/>
              </a:rPr>
              <a:t> Access can be controlled at record level according to the configured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1380" y="3002280"/>
            <a:ext cx="156972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250">
                <a:solidFill>
                  <a:srgbClr val="000000"/>
                </a:solidFill>
                <a:latin typeface="Roboto"/>
              </a:rPr>
              <a:t>business/security rule.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9230" y="10373360"/>
            <a:ext cx="210184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197103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b="1" sz="2100">
                <a:solidFill>
                  <a:srgbClr val="000000"/>
                </a:solidFill>
                <a:latin typeface="Roboto"/>
              </a:rPr>
              <a:t>3.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190753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250">
                <a:solidFill>
                  <a:srgbClr val="000000"/>
                </a:solidFill>
                <a:latin typeface="Roboto"/>
              </a:rPr>
              <a:t>• Script-based ACL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427480"/>
            <a:ext cx="263144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250">
                <a:solidFill>
                  <a:srgbClr val="000000"/>
                </a:solidFill>
                <a:latin typeface="Roboto"/>
              </a:rPr>
              <a:t>• Field-value-based record restriction.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757680"/>
            <a:ext cx="350520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250">
                <a:solidFill>
                  <a:srgbClr val="000000"/>
                </a:solidFill>
                <a:latin typeface="Roboto"/>
              </a:rPr>
              <a:t>• Dynamic authorization during access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" y="2087880"/>
            <a:ext cx="564896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250">
                <a:solidFill>
                  <a:srgbClr val="000000"/>
                </a:solidFill>
                <a:latin typeface="Roboto"/>
              </a:rPr>
              <a:t>• Can be combined with roles, users, groups, or other conditions where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418080"/>
            <a:ext cx="234061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250">
                <a:solidFill>
                  <a:srgbClr val="000000"/>
                </a:solidFill>
                <a:latin typeface="Roboto"/>
              </a:rPr>
              <a:t>• Supports least-privilege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080" y="2748280"/>
            <a:ext cx="318769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250">
                <a:solidFill>
                  <a:srgbClr val="000000"/>
                </a:solidFill>
                <a:latin typeface="Roboto"/>
              </a:rPr>
              <a:t>• Allows positive and negative access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9230" y="10373360"/>
            <a:ext cx="210184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370459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b="1" sz="2100">
                <a:solidFill>
                  <a:srgbClr val="000000"/>
                </a:solidFill>
                <a:latin typeface="Roboto"/>
              </a:rPr>
              <a:t>4. Architecture / Access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357505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37" b="1" sz="1250">
                <a:solidFill>
                  <a:srgbClr val="000000"/>
                </a:solidFill>
                <a:latin typeface="Roboto"/>
              </a:rPr>
              <a:t>Step 1 – User:</a:t>
            </a:r>
            <a:r>
              <a:rPr spc="3" sz="1250">
                <a:solidFill>
                  <a:srgbClr val="000000"/>
                </a:solidFill>
                <a:latin typeface="Roboto"/>
              </a:rPr>
              <a:t> User requests access to a record.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427480"/>
            <a:ext cx="492506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42" b="1" sz="1250">
                <a:solidFill>
                  <a:srgbClr val="000000"/>
                </a:solidFill>
                <a:latin typeface="Roboto"/>
              </a:rPr>
              <a:t>Step 2 – ACL:</a:t>
            </a:r>
            <a:r>
              <a:rPr spc="2" sz="1250">
                <a:solidFill>
                  <a:srgbClr val="000000"/>
                </a:solidFill>
                <a:latin typeface="Roboto"/>
              </a:rPr>
              <a:t> ServiceNow evaluates the applicable Access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757680"/>
            <a:ext cx="570103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37" b="1" sz="1250">
                <a:solidFill>
                  <a:srgbClr val="000000"/>
                </a:solidFill>
                <a:latin typeface="Roboto"/>
              </a:rPr>
              <a:t>Step 3 – Script:</a:t>
            </a:r>
            <a:r>
              <a:rPr spc="0" sz="1250">
                <a:solidFill>
                  <a:srgbClr val="000000"/>
                </a:solidFill>
                <a:latin typeface="Roboto"/>
              </a:rPr>
              <a:t> The ACL script reads the relevant field from the current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" y="2087880"/>
            <a:ext cx="576326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39" b="1" sz="1250">
                <a:solidFill>
                  <a:srgbClr val="000000"/>
                </a:solidFill>
                <a:latin typeface="Roboto"/>
              </a:rPr>
              <a:t>Step 4 – Decision:</a:t>
            </a:r>
            <a:r>
              <a:rPr spc="-3" sz="1250">
                <a:solidFill>
                  <a:srgbClr val="000000"/>
                </a:solidFill>
                <a:latin typeface="Roboto"/>
              </a:rPr>
              <a:t> The configured rule determines whether access is permitted.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418080"/>
            <a:ext cx="523367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39" b="1" sz="1250">
                <a:solidFill>
                  <a:srgbClr val="000000"/>
                </a:solidFill>
                <a:latin typeface="Roboto"/>
              </a:rPr>
              <a:t>Step 5 – Result:</a:t>
            </a:r>
            <a:r>
              <a:rPr spc="0" sz="1250">
                <a:solidFill>
                  <a:srgbClr val="000000"/>
                </a:solidFill>
                <a:latin typeface="Roboto"/>
              </a:rPr>
              <a:t> Access is allowed or denied according to the ACL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9230" y="10373360"/>
            <a:ext cx="210184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162940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9" b="1" sz="2100">
                <a:solidFill>
                  <a:srgbClr val="000000"/>
                </a:solidFill>
                <a:latin typeface="Roboto"/>
              </a:rPr>
              <a:t>5. ACL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456438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50">
                <a:solidFill>
                  <a:srgbClr val="000000"/>
                </a:solidFill>
                <a:latin typeface="Roboto"/>
              </a:rPr>
              <a:t>• Identify the table and operation to protect, such as read access.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427480"/>
            <a:ext cx="351409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250">
                <a:solidFill>
                  <a:srgbClr val="000000"/>
                </a:solidFill>
                <a:latin typeface="Roboto"/>
              </a:rPr>
              <a:t>• Identify the field whose value controls restriction.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757680"/>
            <a:ext cx="395478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250">
                <a:solidFill>
                  <a:srgbClr val="000000"/>
                </a:solidFill>
                <a:latin typeface="Roboto"/>
              </a:rPr>
              <a:t>• Define which field value represents the restricted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" y="2087880"/>
            <a:ext cx="355727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250">
                <a:solidFill>
                  <a:srgbClr val="000000"/>
                </a:solidFill>
                <a:latin typeface="Roboto"/>
              </a:rPr>
              <a:t>• Evaluate the current record inside the ACL script.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418080"/>
            <a:ext cx="243713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250">
                <a:solidFill>
                  <a:srgbClr val="000000"/>
                </a:solidFill>
                <a:latin typeface="Roboto"/>
              </a:rPr>
              <a:t>• Apply the authorization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080" y="2748280"/>
            <a:ext cx="294894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250">
                <a:solidFill>
                  <a:srgbClr val="000000"/>
                </a:solidFill>
                <a:latin typeface="Roboto"/>
              </a:rPr>
              <a:t>• Test both allowed and denied outcomes.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9230" y="10373360"/>
            <a:ext cx="210184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259334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b="1" sz="2100">
                <a:solidFill>
                  <a:srgbClr val="000000"/>
                </a:solidFill>
                <a:latin typeface="Roboto"/>
              </a:rPr>
              <a:t>6. Example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392049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50">
                <a:solidFill>
                  <a:srgbClr val="000000"/>
                </a:solidFill>
                <a:latin typeface="Roboto"/>
              </a:rPr>
              <a:t>• Assume a record contains a field called </a:t>
            </a:r>
            <a:r>
              <a:rPr spc="50" b="1" sz="1250">
                <a:solidFill>
                  <a:srgbClr val="000000"/>
                </a:solidFill>
                <a:latin typeface="Roboto"/>
              </a:rPr>
              <a:t>access_level</a:t>
            </a:r>
            <a:r>
              <a:rPr spc="20" sz="1250">
                <a:solidFill>
                  <a:srgbClr val="000000"/>
                </a:solidFill>
                <a:latin typeface="Roboto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427480"/>
            <a:ext cx="530479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250">
                <a:solidFill>
                  <a:srgbClr val="000000"/>
                </a:solidFill>
                <a:latin typeface="Roboto"/>
              </a:rPr>
              <a:t>• If the value is </a:t>
            </a:r>
            <a:r>
              <a:rPr spc="47" b="1" sz="1250">
                <a:solidFill>
                  <a:srgbClr val="000000"/>
                </a:solidFill>
                <a:latin typeface="Roboto"/>
              </a:rPr>
              <a:t>Restricted</a:t>
            </a:r>
            <a:r>
              <a:rPr spc="-4" sz="1250">
                <a:solidFill>
                  <a:srgbClr val="000000"/>
                </a:solidFill>
                <a:latin typeface="Roboto"/>
              </a:rPr>
              <a:t>, an additional authorization condition is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757680"/>
            <a:ext cx="479298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250">
                <a:solidFill>
                  <a:srgbClr val="000000"/>
                </a:solidFill>
                <a:latin typeface="Roboto"/>
              </a:rPr>
              <a:t>• If the value is </a:t>
            </a:r>
            <a:r>
              <a:rPr spc="51" b="1" sz="1250">
                <a:solidFill>
                  <a:srgbClr val="000000"/>
                </a:solidFill>
                <a:latin typeface="Roboto"/>
              </a:rPr>
              <a:t>Public</a:t>
            </a:r>
            <a:r>
              <a:rPr spc="-1" sz="1250">
                <a:solidFill>
                  <a:srgbClr val="000000"/>
                </a:solidFill>
                <a:latin typeface="Roboto"/>
              </a:rPr>
              <a:t>, the record can follow the normal access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" y="2087880"/>
            <a:ext cx="572008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250">
                <a:solidFill>
                  <a:srgbClr val="000000"/>
                </a:solidFill>
                <a:latin typeface="Roboto"/>
              </a:rPr>
              <a:t>• The ACL evaluates the current record and returns the appropriate access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416810"/>
            <a:ext cx="568452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6" i="1" sz="1250">
                <a:solidFill>
                  <a:srgbClr val="000000"/>
                </a:solidFill>
                <a:latin typeface="Roboto"/>
              </a:rPr>
              <a:t>Note: These field names and values are examples; use your actual ServiceNow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380" y="2645410"/>
            <a:ext cx="216154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i="1" sz="1250">
                <a:solidFill>
                  <a:srgbClr val="000000"/>
                </a:solidFill>
                <a:latin typeface="Roboto"/>
              </a:rPr>
              <a:t>configuration in the final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9230" y="10373360"/>
            <a:ext cx="210184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4222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b="1" sz="2100">
                <a:solidFill>
                  <a:srgbClr val="000000"/>
                </a:solidFill>
                <a:latin typeface="Roboto"/>
              </a:rPr>
              <a:t>7. Authentication &amp;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523367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49" b="1" sz="1250">
                <a:solidFill>
                  <a:srgbClr val="000000"/>
                </a:solidFill>
                <a:latin typeface="Roboto"/>
              </a:rPr>
              <a:t>Authentication:</a:t>
            </a:r>
            <a:r>
              <a:rPr spc="-5" sz="1250">
                <a:solidFill>
                  <a:srgbClr val="000000"/>
                </a:solidFill>
                <a:latin typeface="Roboto"/>
              </a:rPr>
              <a:t> Establishes the identity of the user through the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427480"/>
            <a:ext cx="544576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50" b="1" sz="1250">
                <a:solidFill>
                  <a:srgbClr val="000000"/>
                </a:solidFill>
                <a:latin typeface="Roboto"/>
              </a:rPr>
              <a:t>Authorization:</a:t>
            </a:r>
            <a:r>
              <a:rPr spc="0" sz="1250">
                <a:solidFill>
                  <a:srgbClr val="000000"/>
                </a:solidFill>
                <a:latin typeface="Roboto"/>
              </a:rPr>
              <a:t> ACL determines whether the user can perform the protected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1380" y="1656080"/>
            <a:ext cx="70485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250">
                <a:solidFill>
                  <a:srgbClr val="000000"/>
                </a:solidFill>
                <a:latin typeface="Roboto"/>
              </a:rPr>
              <a:t>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" y="1986280"/>
            <a:ext cx="576326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57" b="1" sz="1250">
                <a:solidFill>
                  <a:srgbClr val="000000"/>
                </a:solidFill>
                <a:latin typeface="Roboto"/>
              </a:rPr>
              <a:t>Record-level security:</a:t>
            </a:r>
            <a:r>
              <a:rPr spc="-5" sz="1250">
                <a:solidFill>
                  <a:srgbClr val="000000"/>
                </a:solidFill>
                <a:latin typeface="Roboto"/>
              </a:rPr>
              <a:t> Different records can receive different access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316480"/>
            <a:ext cx="500507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51" b="1" sz="1250">
                <a:solidFill>
                  <a:srgbClr val="000000"/>
                </a:solidFill>
                <a:latin typeface="Roboto"/>
              </a:rPr>
              <a:t>Least privilege:</a:t>
            </a:r>
            <a:r>
              <a:rPr spc="-7" sz="1250">
                <a:solidFill>
                  <a:srgbClr val="000000"/>
                </a:solidFill>
                <a:latin typeface="Roboto"/>
              </a:rPr>
              <a:t> Access is limited to what the configured rule permits.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9230" y="10373360"/>
            <a:ext cx="210184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306704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b="1" sz="2100">
                <a:solidFill>
                  <a:srgbClr val="000000"/>
                </a:solidFill>
                <a:latin typeface="Roboto"/>
              </a:rPr>
              <a:t>8. Implementation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444119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250">
                <a:solidFill>
                  <a:srgbClr val="000000"/>
                </a:solidFill>
                <a:latin typeface="Roboto"/>
              </a:rPr>
              <a:t>• Open the target table and identify the field used for restriction.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427480"/>
            <a:ext cx="394589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250">
                <a:solidFill>
                  <a:srgbClr val="000000"/>
                </a:solidFill>
                <a:latin typeface="Roboto"/>
              </a:rPr>
              <a:t>• Create or configure the required ACL for the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757680"/>
            <a:ext cx="273684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250">
                <a:solidFill>
                  <a:srgbClr val="000000"/>
                </a:solidFill>
                <a:latin typeface="Roboto"/>
              </a:rPr>
              <a:t>• Configure applicable roles/conditions.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" y="2087880"/>
            <a:ext cx="439928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50">
                <a:solidFill>
                  <a:srgbClr val="000000"/>
                </a:solidFill>
                <a:latin typeface="Roboto"/>
              </a:rPr>
              <a:t>• Write the script that evaluates the current record's field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418080"/>
            <a:ext cx="173228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1250">
                <a:solidFill>
                  <a:srgbClr val="000000"/>
                </a:solidFill>
                <a:latin typeface="Roboto"/>
              </a:rPr>
              <a:t>• Save and test the ACL.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080" y="2748280"/>
            <a:ext cx="599313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250">
                <a:solidFill>
                  <a:srgbClr val="000000"/>
                </a:solidFill>
                <a:latin typeface="Roboto"/>
              </a:rPr>
              <a:t>• Validate the result using users and records representing different access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9230" y="10373360"/>
            <a:ext cx="210184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12446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2100">
                <a:solidFill>
                  <a:srgbClr val="000000"/>
                </a:solidFill>
                <a:latin typeface="Roboto"/>
              </a:rPr>
              <a:t>9.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583184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43" b="1" sz="1250">
                <a:solidFill>
                  <a:srgbClr val="000000"/>
                </a:solidFill>
                <a:latin typeface="Roboto"/>
              </a:rPr>
              <a:t>Positive test:</a:t>
            </a:r>
            <a:r>
              <a:rPr spc="-1" sz="1250">
                <a:solidFill>
                  <a:srgbClr val="000000"/>
                </a:solidFill>
                <a:latin typeface="Roboto"/>
              </a:rPr>
              <a:t> User satisfies the rule and the field value permits access </a:t>
            </a:r>
            <a:r>
              <a:rPr spc="-4" sz="12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-2" sz="1250">
                <a:solidFill>
                  <a:srgbClr val="000000"/>
                </a:solidFill>
                <a:latin typeface="Roboto"/>
              </a:rPr>
              <a:t>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" y="1325880"/>
            <a:ext cx="131445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50">
                <a:solidFill>
                  <a:srgbClr val="000000"/>
                </a:solidFill>
                <a:latin typeface="Roboto"/>
              </a:rPr>
              <a:t>should be allowed.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656080"/>
            <a:ext cx="597281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38" b="1" sz="1250">
                <a:solidFill>
                  <a:srgbClr val="000000"/>
                </a:solidFill>
                <a:latin typeface="Roboto"/>
              </a:rPr>
              <a:t>Negative test:</a:t>
            </a:r>
            <a:r>
              <a:rPr spc="0" sz="1250">
                <a:solidFill>
                  <a:srgbClr val="000000"/>
                </a:solidFill>
                <a:latin typeface="Roboto"/>
              </a:rPr>
              <a:t> User does not satisfy the rule for a restricted value </a:t>
            </a:r>
            <a:r>
              <a:rPr spc="-4" sz="12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-3" sz="1250">
                <a:solidFill>
                  <a:srgbClr val="000000"/>
                </a:solidFill>
                <a:latin typeface="Roboto"/>
              </a:rPr>
              <a:t> access should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1380" y="1884680"/>
            <a:ext cx="74041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50">
                <a:solidFill>
                  <a:srgbClr val="000000"/>
                </a:solidFill>
                <a:latin typeface="Roboto"/>
              </a:rPr>
              <a:t>be denied.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214880"/>
            <a:ext cx="608076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48" b="1" sz="1250">
                <a:solidFill>
                  <a:srgbClr val="000000"/>
                </a:solidFill>
                <a:latin typeface="Roboto"/>
              </a:rPr>
              <a:t>Field-change test:</a:t>
            </a:r>
            <a:r>
              <a:rPr spc="2" sz="1250">
                <a:solidFill>
                  <a:srgbClr val="000000"/>
                </a:solidFill>
                <a:latin typeface="Roboto"/>
              </a:rPr>
              <a:t> Change the controlling field value and verify the access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080" y="2545080"/>
            <a:ext cx="317754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51" b="1" sz="1250">
                <a:solidFill>
                  <a:srgbClr val="000000"/>
                </a:solidFill>
                <a:latin typeface="Roboto"/>
              </a:rPr>
              <a:t>Role test:</a:t>
            </a:r>
            <a:r>
              <a:rPr spc="3" sz="1250">
                <a:solidFill>
                  <a:srgbClr val="000000"/>
                </a:solidFill>
                <a:latin typeface="Roboto"/>
              </a:rPr>
              <a:t> Test relevant roles or user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080" y="2875280"/>
            <a:ext cx="591312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250">
                <a:solidFill>
                  <a:srgbClr val="000000"/>
                </a:solidFill>
                <a:latin typeface="Roboto"/>
              </a:rPr>
              <a:t>• </a:t>
            </a:r>
            <a:r>
              <a:rPr spc="52" b="1" sz="1250">
                <a:solidFill>
                  <a:srgbClr val="000000"/>
                </a:solidFill>
                <a:latin typeface="Roboto"/>
              </a:rPr>
              <a:t>Regression test:</a:t>
            </a:r>
            <a:r>
              <a:rPr spc="-3" sz="1250">
                <a:solidFill>
                  <a:srgbClr val="000000"/>
                </a:solidFill>
                <a:latin typeface="Roboto"/>
              </a:rPr>
              <a:t> Confirm unrelated records and operations are not unintentionally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1380" y="3103880"/>
            <a:ext cx="60832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1" sz="1250">
                <a:solidFill>
                  <a:srgbClr val="000000"/>
                </a:solidFill>
                <a:latin typeface="Roboto"/>
              </a:rPr>
              <a:t>affected.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8750" y="10373360"/>
            <a:ext cx="216281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318643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2100">
                <a:solidFill>
                  <a:srgbClr val="000000"/>
                </a:solidFill>
                <a:latin typeface="Roboto"/>
              </a:rPr>
              <a:t>10. User Interface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279908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250">
                <a:solidFill>
                  <a:srgbClr val="000000"/>
                </a:solidFill>
                <a:latin typeface="Roboto"/>
              </a:rPr>
              <a:t>• Open the target record in ServiceNow.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427480"/>
            <a:ext cx="257809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250">
                <a:solidFill>
                  <a:srgbClr val="000000"/>
                </a:solidFill>
                <a:latin typeface="Roboto"/>
              </a:rPr>
              <a:t>• Highlight the field used by the ACL.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757680"/>
            <a:ext cx="271907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250">
                <a:solidFill>
                  <a:srgbClr val="000000"/>
                </a:solidFill>
                <a:latin typeface="Roboto"/>
              </a:rPr>
              <a:t>• Show a record with an allowed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" y="2087880"/>
            <a:ext cx="254254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250">
                <a:solidFill>
                  <a:srgbClr val="000000"/>
                </a:solidFill>
                <a:latin typeface="Roboto"/>
              </a:rPr>
              <a:t>• Test access with the relevant user.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418080"/>
            <a:ext cx="212852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250">
                <a:solidFill>
                  <a:srgbClr val="000000"/>
                </a:solidFill>
                <a:latin typeface="Roboto"/>
              </a:rPr>
              <a:t>• Show a restricted field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080" y="2748280"/>
            <a:ext cx="405257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250">
                <a:solidFill>
                  <a:srgbClr val="000000"/>
                </a:solidFill>
                <a:latin typeface="Roboto"/>
              </a:rPr>
              <a:t>• Test access again and demonstrate the restricted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080" y="3078480"/>
            <a:ext cx="578104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250">
                <a:solidFill>
                  <a:srgbClr val="000000"/>
                </a:solidFill>
                <a:latin typeface="Roboto"/>
              </a:rPr>
              <a:t>• Add actual screenshots from your ServiceNow instance for the final presentation.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8750" y="10373360"/>
            <a:ext cx="216281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440182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b="1" sz="2100">
                <a:solidFill>
                  <a:srgbClr val="000000"/>
                </a:solidFill>
                <a:latin typeface="Roboto"/>
              </a:rPr>
              <a:t>11. Known Issues /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494284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250">
                <a:solidFill>
                  <a:srgbClr val="000000"/>
                </a:solidFill>
                <a:latin typeface="Roboto"/>
              </a:rPr>
              <a:t>• Incorrect ACL configuration can lead to unexpected access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427480"/>
            <a:ext cx="441325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250">
                <a:solidFill>
                  <a:srgbClr val="000000"/>
                </a:solidFill>
                <a:latin typeface="Roboto"/>
              </a:rPr>
              <a:t>• The script must reference the correct current record and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757680"/>
            <a:ext cx="509270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250">
                <a:solidFill>
                  <a:srgbClr val="000000"/>
                </a:solidFill>
                <a:latin typeface="Roboto"/>
              </a:rPr>
              <a:t>• Overly broad authorization rules may grant more access than intended.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" y="2087880"/>
            <a:ext cx="361950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250">
                <a:solidFill>
                  <a:srgbClr val="000000"/>
                </a:solidFill>
                <a:latin typeface="Roboto"/>
              </a:rPr>
              <a:t>• All relevant roles and operations should be tested.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418080"/>
            <a:ext cx="600202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250">
                <a:solidFill>
                  <a:srgbClr val="000000"/>
                </a:solidFill>
                <a:latin typeface="Roboto"/>
              </a:rPr>
              <a:t>• Actual field names, values, and business rules must match the implemented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8750" y="10373360"/>
            <a:ext cx="216281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324484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3" b="1" sz="2100">
                <a:solidFill>
                  <a:srgbClr val="000000"/>
                </a:solidFill>
                <a:latin typeface="Roboto"/>
              </a:rPr>
              <a:t>12.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282574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50">
                <a:solidFill>
                  <a:srgbClr val="000000"/>
                </a:solidFill>
                <a:latin typeface="Roboto"/>
              </a:rPr>
              <a:t>• Support multiple restricted field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427480"/>
            <a:ext cx="379603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250">
                <a:solidFill>
                  <a:srgbClr val="000000"/>
                </a:solidFill>
                <a:latin typeface="Roboto"/>
              </a:rPr>
              <a:t>• Combine field-based rules with role or group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757680"/>
            <a:ext cx="431673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50">
                <a:solidFill>
                  <a:srgbClr val="000000"/>
                </a:solidFill>
                <a:latin typeface="Roboto"/>
              </a:rPr>
              <a:t>• Extend the logic to more complex record-level authorization.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" y="2087880"/>
            <a:ext cx="279908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250">
                <a:solidFill>
                  <a:srgbClr val="000000"/>
                </a:solidFill>
                <a:latin typeface="Roboto"/>
              </a:rPr>
              <a:t>• Improve audit and test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418080"/>
            <a:ext cx="370840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250">
                <a:solidFill>
                  <a:srgbClr val="000000"/>
                </a:solidFill>
                <a:latin typeface="Roboto"/>
              </a:rPr>
              <a:t>• Create reusable security patterns for related tables.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8750" y="10373360"/>
            <a:ext cx="216281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189610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b="1" sz="2100">
                <a:solidFill>
                  <a:srgbClr val="000000"/>
                </a:solidFill>
                <a:latin typeface="Roboto"/>
              </a:rP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097280"/>
            <a:ext cx="564007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250">
                <a:solidFill>
                  <a:srgbClr val="000000"/>
                </a:solidFill>
                <a:latin typeface="Roboto"/>
              </a:rPr>
              <a:t>• The project demonstrates dynamic record access control using a scripted ACL.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427480"/>
            <a:ext cx="493522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250">
                <a:solidFill>
                  <a:srgbClr val="000000"/>
                </a:solidFill>
                <a:latin typeface="Roboto"/>
              </a:rPr>
              <a:t>• The ACL evaluates a field value as part of the authorization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080" y="1757680"/>
            <a:ext cx="593090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250">
                <a:solidFill>
                  <a:srgbClr val="000000"/>
                </a:solidFill>
                <a:latin typeface="Roboto"/>
              </a:rPr>
              <a:t>• This approach can provide fine-grained record security when configured and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1380" y="1986280"/>
            <a:ext cx="64388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1250">
                <a:solidFill>
                  <a:srgbClr val="000000"/>
                </a:solidFill>
                <a:latin typeface="Roboto"/>
              </a:rPr>
              <a:t>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080" y="2316480"/>
            <a:ext cx="542036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250">
                <a:solidFill>
                  <a:srgbClr val="000000"/>
                </a:solidFill>
                <a:latin typeface="Roboto"/>
              </a:rPr>
              <a:t>• The final outcome depends on the actual table, field, values, roles, and ACL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380" y="2545080"/>
            <a:ext cx="229362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250">
                <a:solidFill>
                  <a:srgbClr val="000000"/>
                </a:solidFill>
                <a:latin typeface="Roboto"/>
              </a:rPr>
              <a:t>configuration used in the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8750" y="10373360"/>
            <a:ext cx="216281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0080"/>
            <a:ext cx="382397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b="1" sz="2100">
                <a:solidFill>
                  <a:srgbClr val="000000"/>
                </a:solidFill>
                <a:latin typeface="Roboto"/>
              </a:rPr>
              <a:t>14. Viva 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780" y="1097280"/>
            <a:ext cx="1189989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b="1" sz="1250">
                <a:solidFill>
                  <a:srgbClr val="000000"/>
                </a:solidFill>
                <a:latin typeface="Roboto"/>
              </a:rPr>
              <a:t>Q:</a:t>
            </a:r>
            <a:r>
              <a:rPr spc="25" sz="1250">
                <a:solidFill>
                  <a:srgbClr val="000000"/>
                </a:solidFill>
                <a:latin typeface="Roboto"/>
              </a:rPr>
              <a:t> What is ACL?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780" y="1427480"/>
            <a:ext cx="621030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5" b="1" sz="1250">
                <a:solidFill>
                  <a:srgbClr val="000000"/>
                </a:solidFill>
                <a:latin typeface="Roboto"/>
              </a:rPr>
              <a:t>A:</a:t>
            </a:r>
            <a:r>
              <a:rPr spc="-1" sz="1250">
                <a:solidFill>
                  <a:srgbClr val="000000"/>
                </a:solidFill>
                <a:latin typeface="Roboto"/>
              </a:rPr>
              <a:t> ACL stands for Access Control List. It defines whether a user can perform a particular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780" y="1656080"/>
            <a:ext cx="242570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250">
                <a:solidFill>
                  <a:srgbClr val="000000"/>
                </a:solidFill>
                <a:latin typeface="Roboto"/>
              </a:rPr>
              <a:t>operation on a protected resource.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780" y="1986280"/>
            <a:ext cx="2010409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b="1" sz="1250">
                <a:solidFill>
                  <a:srgbClr val="000000"/>
                </a:solidFill>
                <a:latin typeface="Roboto"/>
              </a:rPr>
              <a:t>Q:</a:t>
            </a:r>
            <a:r>
              <a:rPr spc="18" sz="1250">
                <a:solidFill>
                  <a:srgbClr val="000000"/>
                </a:solidFill>
                <a:latin typeface="Roboto"/>
              </a:rPr>
              <a:t> Why use a scripted ACL?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780" y="2316480"/>
            <a:ext cx="561975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5" b="1" sz="1250">
                <a:solidFill>
                  <a:srgbClr val="000000"/>
                </a:solidFill>
                <a:latin typeface="Roboto"/>
              </a:rPr>
              <a:t>A:</a:t>
            </a:r>
            <a:r>
              <a:rPr spc="-2" sz="1250">
                <a:solidFill>
                  <a:srgbClr val="000000"/>
                </a:solidFill>
                <a:latin typeface="Roboto"/>
              </a:rPr>
              <a:t> A script allows access logic to evaluate the current record and apply dynamic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780" y="2545080"/>
            <a:ext cx="75819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sz="1250">
                <a:solidFill>
                  <a:srgbClr val="000000"/>
                </a:solidFill>
                <a:latin typeface="Roboto"/>
              </a:rPr>
              <a:t>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780" y="2875280"/>
            <a:ext cx="282321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b="1" sz="1250">
                <a:solidFill>
                  <a:srgbClr val="000000"/>
                </a:solidFill>
                <a:latin typeface="Roboto"/>
              </a:rPr>
              <a:t>Q:</a:t>
            </a:r>
            <a:r>
              <a:rPr spc="0" sz="1250">
                <a:solidFill>
                  <a:srgbClr val="000000"/>
                </a:solidFill>
                <a:latin typeface="Roboto"/>
              </a:rPr>
              <a:t> What is the main idea of this project?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780" y="3205480"/>
            <a:ext cx="4834890" cy="160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5" b="1" sz="1250">
                <a:solidFill>
                  <a:srgbClr val="000000"/>
                </a:solidFill>
                <a:latin typeface="Roboto"/>
              </a:rPr>
              <a:t>A:</a:t>
            </a:r>
            <a:r>
              <a:rPr spc="2" sz="1250">
                <a:solidFill>
                  <a:srgbClr val="000000"/>
                </a:solidFill>
                <a:latin typeface="Roboto"/>
              </a:rPr>
              <a:t> Restrict record access based on a value stored in a selected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780" y="3535679"/>
            <a:ext cx="428752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b="1" sz="1250">
                <a:solidFill>
                  <a:srgbClr val="000000"/>
                </a:solidFill>
                <a:latin typeface="Roboto"/>
              </a:rPr>
              <a:t>Q:</a:t>
            </a:r>
            <a:r>
              <a:rPr spc="-2" sz="1250">
                <a:solidFill>
                  <a:srgbClr val="000000"/>
                </a:solidFill>
                <a:latin typeface="Roboto"/>
              </a:rPr>
              <a:t> What happens when the access condition is not satisfied?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780" y="3865879"/>
            <a:ext cx="442849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5" b="1" sz="1250">
                <a:solidFill>
                  <a:srgbClr val="000000"/>
                </a:solidFill>
                <a:latin typeface="Roboto"/>
              </a:rPr>
              <a:t>A:</a:t>
            </a:r>
            <a:r>
              <a:rPr spc="1" sz="1250">
                <a:solidFill>
                  <a:srgbClr val="000000"/>
                </a:solidFill>
                <a:latin typeface="Roboto"/>
              </a:rPr>
              <a:t> The configured ACL should prevent the protected operation.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780" y="4196080"/>
            <a:ext cx="204597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b="1" sz="1250">
                <a:solidFill>
                  <a:srgbClr val="000000"/>
                </a:solidFill>
                <a:latin typeface="Roboto"/>
              </a:rPr>
              <a:t>Q:</a:t>
            </a:r>
            <a:r>
              <a:rPr spc="-1" sz="1250">
                <a:solidFill>
                  <a:srgbClr val="000000"/>
                </a:solidFill>
                <a:latin typeface="Roboto"/>
              </a:rPr>
              <a:t> How is the project tested?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780" y="4526280"/>
            <a:ext cx="615823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5" b="1" sz="1250">
                <a:solidFill>
                  <a:srgbClr val="000000"/>
                </a:solidFill>
                <a:latin typeface="Roboto"/>
              </a:rPr>
              <a:t>A:</a:t>
            </a:r>
            <a:r>
              <a:rPr spc="-5" sz="1250">
                <a:solidFill>
                  <a:srgbClr val="000000"/>
                </a:solidFill>
                <a:latin typeface="Roboto"/>
              </a:rPr>
              <a:t> By testing permitted and restricted field values with relevant users/roles and verifying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780" y="4754880"/>
            <a:ext cx="123443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250">
                <a:solidFill>
                  <a:srgbClr val="000000"/>
                </a:solidFill>
                <a:latin typeface="Roboto"/>
              </a:rPr>
              <a:t>the access result.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780" y="5085080"/>
            <a:ext cx="261112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b="1" sz="1250">
                <a:solidFill>
                  <a:srgbClr val="000000"/>
                </a:solidFill>
                <a:latin typeface="Roboto"/>
              </a:rPr>
              <a:t>Q:</a:t>
            </a:r>
            <a:r>
              <a:rPr spc="5" sz="1250">
                <a:solidFill>
                  <a:srgbClr val="000000"/>
                </a:solidFill>
                <a:latin typeface="Roboto"/>
              </a:rPr>
              <a:t> Why is field-based access useful?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780" y="5415280"/>
            <a:ext cx="608711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5" b="1" sz="1250">
                <a:solidFill>
                  <a:srgbClr val="000000"/>
                </a:solidFill>
                <a:latin typeface="Roboto"/>
              </a:rPr>
              <a:t>A:</a:t>
            </a:r>
            <a:r>
              <a:rPr spc="-2" sz="1250">
                <a:solidFill>
                  <a:srgbClr val="000000"/>
                </a:solidFill>
                <a:latin typeface="Roboto"/>
              </a:rPr>
              <a:t> It allows the access decision to vary according to the data contained in each record.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780" y="6073140"/>
            <a:ext cx="575310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250">
                <a:solidFill>
                  <a:srgbClr val="000000"/>
                </a:solidFill>
                <a:latin typeface="Roboto"/>
              </a:rPr>
              <a:t>Source format followed: the uploaded documentation template organizes a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780" y="6301740"/>
            <a:ext cx="539115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250">
                <a:solidFill>
                  <a:srgbClr val="000000"/>
                </a:solidFill>
                <a:latin typeface="Roboto"/>
              </a:rPr>
              <a:t>around introduction, overview, architecture, setup, authentication, UI, testing,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780" y="6530340"/>
            <a:ext cx="422656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50">
                <a:solidFill>
                  <a:srgbClr val="000000"/>
                </a:solidFill>
                <a:latin typeface="Roboto"/>
              </a:rPr>
              <a:t>demo/screenshots, known issues and future enhancements.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780" y="6748780"/>
            <a:ext cx="4292600" cy="168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0" sz="1250">
                <a:solidFill>
                  <a:srgbClr val="000000"/>
                </a:solidFill>
                <a:latin typeface="Roboto"/>
              </a:rPr>
              <a:t>I</a:t>
            </a:r>
            <a:r>
              <a:rPr spc="-25" sz="1250">
                <a:solidFill>
                  <a:srgbClr val="000000"/>
                </a:solidFill>
                <a:latin typeface="Roboto"/>
              </a:rPr>
              <a:t>filecite</a:t>
            </a:r>
            <a:r>
              <a:rPr spc="610" sz="1250">
                <a:solidFill>
                  <a:srgbClr val="000000"/>
                </a:solidFill>
                <a:latin typeface="Roboto"/>
              </a:rPr>
              <a:t>I</a:t>
            </a:r>
            <a:r>
              <a:rPr spc="-19" sz="1250">
                <a:solidFill>
                  <a:srgbClr val="000000"/>
                </a:solidFill>
                <a:latin typeface="Roboto"/>
              </a:rPr>
              <a:t>turn1file0</a:t>
            </a:r>
            <a:r>
              <a:rPr spc="610" sz="1250">
                <a:solidFill>
                  <a:srgbClr val="000000"/>
                </a:solidFill>
                <a:latin typeface="Roboto"/>
              </a:rPr>
              <a:t>I</a:t>
            </a:r>
            <a:r>
              <a:rPr spc="15" sz="1250">
                <a:solidFill>
                  <a:srgbClr val="000000"/>
                </a:solidFill>
                <a:latin typeface="Roboto"/>
              </a:rPr>
              <a:t>L4-L17</a:t>
            </a:r>
            <a:r>
              <a:rPr spc="620" sz="1250">
                <a:solidFill>
                  <a:srgbClr val="000000"/>
                </a:solidFill>
                <a:latin typeface="Roboto"/>
              </a:rPr>
              <a:t>I</a:t>
            </a:r>
            <a:r>
              <a:rPr spc="610" sz="1250">
                <a:solidFill>
                  <a:srgbClr val="000000"/>
                </a:solidFill>
                <a:latin typeface="Roboto"/>
              </a:rPr>
              <a:t>I</a:t>
            </a:r>
            <a:r>
              <a:rPr spc="-24" sz="1250">
                <a:solidFill>
                  <a:srgbClr val="000000"/>
                </a:solidFill>
                <a:latin typeface="Roboto"/>
              </a:rPr>
              <a:t>filecite</a:t>
            </a:r>
            <a:r>
              <a:rPr spc="610" sz="1250">
                <a:solidFill>
                  <a:srgbClr val="000000"/>
                </a:solidFill>
                <a:latin typeface="Roboto"/>
              </a:rPr>
              <a:t>I</a:t>
            </a:r>
            <a:r>
              <a:rPr spc="-19" sz="1250">
                <a:solidFill>
                  <a:srgbClr val="000000"/>
                </a:solidFill>
                <a:latin typeface="Roboto"/>
              </a:rPr>
              <a:t>turn1file0</a:t>
            </a:r>
            <a:r>
              <a:rPr spc="610" sz="1250">
                <a:solidFill>
                  <a:srgbClr val="000000"/>
                </a:solidFill>
                <a:latin typeface="Roboto"/>
              </a:rPr>
              <a:t>I</a:t>
            </a:r>
            <a:r>
              <a:rPr spc="12" sz="1250">
                <a:solidFill>
                  <a:srgbClr val="000000"/>
                </a:solidFill>
                <a:latin typeface="Roboto"/>
              </a:rPr>
              <a:t>L28-L41</a:t>
            </a:r>
            <a:r>
              <a:rPr spc="610" sz="1250">
                <a:solidFill>
                  <a:srgbClr val="000000"/>
                </a:solidFill>
                <a:latin typeface="Roboto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8750" y="10373360"/>
            <a:ext cx="216281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50">
                <a:solidFill>
                  <a:srgbClr val="000000"/>
                </a:solidFill>
                <a:latin typeface="Roboto"/>
              </a:rPr>
              <a:t>Script Control ACL | Project Presentation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