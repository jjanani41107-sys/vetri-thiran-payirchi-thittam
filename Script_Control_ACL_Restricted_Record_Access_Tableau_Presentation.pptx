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0692000" cy="7559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6760" y="1487170"/>
            <a:ext cx="6658609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8" b="1" sz="2800">
                <a:solidFill>
                  <a:srgbClr val="000000"/>
                </a:solidFill>
                <a:latin typeface="Roboto"/>
              </a:rPr>
              <a:t>SCRIPT CONTROL – ACL RESTRICTED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82420" y="1918970"/>
            <a:ext cx="7527289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88" b="1" sz="2800">
                <a:solidFill>
                  <a:srgbClr val="000000"/>
                </a:solidFill>
                <a:latin typeface="Roboto"/>
              </a:rPr>
              <a:t>RECORD ACCESS BASED ON FIELD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8180" y="2465070"/>
            <a:ext cx="171577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500">
                <a:solidFill>
                  <a:srgbClr val="000000"/>
                </a:solidFill>
                <a:latin typeface="Roboto"/>
              </a:rP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7920" y="3152140"/>
            <a:ext cx="587628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500">
                <a:solidFill>
                  <a:srgbClr val="000000"/>
                </a:solidFill>
                <a:latin typeface="Roboto"/>
              </a:rPr>
              <a:t>Salesforce / Access Control with Tableau Performance-Test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6850" y="4126229"/>
            <a:ext cx="267842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" sz="1500">
                <a:solidFill>
                  <a:srgbClr val="000000"/>
                </a:solidFill>
                <a:latin typeface="Roboto"/>
              </a:rPr>
              <a:t>Team ID: PNT2022TMIDxxxxxx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194056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0" b="1" sz="2200">
                <a:solidFill>
                  <a:srgbClr val="000000"/>
                </a:solidFill>
                <a:latin typeface="Roboto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390" y="1013460"/>
            <a:ext cx="91478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300">
                <a:solidFill>
                  <a:srgbClr val="000000"/>
                </a:solidFill>
                <a:latin typeface="Roboto"/>
              </a:rPr>
              <a:t>This project presents a field-value based access-control approach. A script control checks a selected record field and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390" y="1254760"/>
            <a:ext cx="47345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300">
                <a:solidFill>
                  <a:srgbClr val="000000"/>
                </a:solidFill>
                <a:latin typeface="Roboto"/>
              </a:rPr>
              <a:t>whether the current user should be allowed to access the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990" y="1584960"/>
            <a:ext cx="34340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300">
                <a:solidFill>
                  <a:srgbClr val="000000"/>
                </a:solidFill>
                <a:latin typeface="Roboto"/>
              </a:rPr>
              <a:t>• ACL provides a controlled authorization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990" y="1915160"/>
            <a:ext cx="40944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300">
                <a:solidFill>
                  <a:srgbClr val="000000"/>
                </a:solidFill>
                <a:latin typeface="Roboto"/>
              </a:rPr>
              <a:t>• The field value becomes a condition for record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" y="2245360"/>
            <a:ext cx="55549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300">
                <a:solidFill>
                  <a:srgbClr val="000000"/>
                </a:solidFill>
                <a:latin typeface="Roboto"/>
              </a:rPr>
              <a:t>• The script evaluates the condition before allowing the requested operation.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" y="2575560"/>
            <a:ext cx="544449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300">
                <a:solidFill>
                  <a:srgbClr val="000000"/>
                </a:solidFill>
                <a:latin typeface="Roboto"/>
              </a:rPr>
              <a:t>• The approach can be used to separate accessible and restricted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1568449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5" b="1" sz="2200">
                <a:solidFill>
                  <a:srgbClr val="000000"/>
                </a:solidFill>
                <a:latin typeface="Roboto"/>
              </a:rPr>
              <a:t>2.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990" y="1013460"/>
            <a:ext cx="40576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300">
                <a:solidFill>
                  <a:srgbClr val="000000"/>
                </a:solidFill>
                <a:latin typeface="Roboto"/>
              </a:rPr>
              <a:t>• Control access to restricted records using field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1990" y="1343660"/>
            <a:ext cx="43154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" sz="1300">
                <a:solidFill>
                  <a:srgbClr val="000000"/>
                </a:solidFill>
                <a:latin typeface="Roboto"/>
              </a:rPr>
              <a:t>• Apply consistent authorization logic through script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990" y="1673860"/>
            <a:ext cx="45085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300">
                <a:solidFill>
                  <a:srgbClr val="000000"/>
                </a:solidFill>
                <a:latin typeface="Roboto"/>
              </a:rPr>
              <a:t>• Allow access only when the configured condition is satisfied.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990" y="2004060"/>
            <a:ext cx="46647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300">
                <a:solidFill>
                  <a:srgbClr val="000000"/>
                </a:solidFill>
                <a:latin typeface="Roboto"/>
              </a:rPr>
              <a:t>• Deny or safely handle records that do not satisfy the condition.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" y="2334260"/>
            <a:ext cx="43065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300">
                <a:solidFill>
                  <a:srgbClr val="000000"/>
                </a:solidFill>
                <a:latin typeface="Roboto"/>
              </a:rPr>
              <a:t>• Validate the rule with different field values and test cases.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442468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1" b="1" sz="2200">
                <a:solidFill>
                  <a:srgbClr val="000000"/>
                </a:solidFill>
                <a:latin typeface="Roboto"/>
              </a:rPr>
              <a:t>3. System Working / Access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390" y="1014730"/>
            <a:ext cx="867664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b="1" sz="1300">
                <a:solidFill>
                  <a:srgbClr val="000000"/>
                </a:solidFill>
                <a:latin typeface="Roboto"/>
              </a:rPr>
              <a:t>User Request </a:t>
            </a:r>
            <a:r>
              <a:rPr spc="-4" sz="13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58" b="1" sz="1300">
                <a:solidFill>
                  <a:srgbClr val="000000"/>
                </a:solidFill>
                <a:latin typeface="Roboto"/>
              </a:rPr>
              <a:t> ACL Trigger </a:t>
            </a:r>
            <a:r>
              <a:rPr spc="-4" sz="13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48" b="1" sz="1300">
                <a:solidFill>
                  <a:srgbClr val="000000"/>
                </a:solidFill>
                <a:latin typeface="Roboto"/>
              </a:rPr>
              <a:t> Read Field Value </a:t>
            </a:r>
            <a:r>
              <a:rPr spc="-4" sz="13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52" b="1" sz="1300">
                <a:solidFill>
                  <a:srgbClr val="000000"/>
                </a:solidFill>
                <a:latin typeface="Roboto"/>
              </a:rPr>
              <a:t> Script Condition </a:t>
            </a:r>
            <a:r>
              <a:rPr spc="6" sz="13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48" b="1" sz="1300">
                <a:solidFill>
                  <a:srgbClr val="000000"/>
                </a:solidFill>
                <a:latin typeface="Roboto"/>
              </a:rPr>
              <a:t> Authorization Decision </a:t>
            </a:r>
            <a:r>
              <a:rPr spc="-4" sz="13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39" b="1" sz="1300">
                <a:solidFill>
                  <a:srgbClr val="000000"/>
                </a:solidFill>
                <a:latin typeface="Roboto"/>
              </a:rPr>
              <a:t> Allow / Deny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55650" y="1308100"/>
          <a:ext cx="9180829" cy="198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39"/>
                <a:gridCol w="7920990"/>
              </a:tblGrid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46" b="1" sz="1200">
                          <a:solidFill>
                            <a:srgbClr val="FFFFFF"/>
                          </a:solidFill>
                          <a:latin typeface="Roboto"/>
                        </a:rPr>
                        <a:t>Step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636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5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51" b="1" sz="1200">
                          <a:solidFill>
                            <a:srgbClr val="FFFFFF"/>
                          </a:solidFill>
                          <a:latin typeface="Roboto"/>
                        </a:rPr>
                        <a:t>Activity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63646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2" sz="1200">
                          <a:solidFill>
                            <a:srgbClr val="000000"/>
                          </a:solidFill>
                          <a:latin typeface="Roboto"/>
                        </a:rPr>
                        <a:t>User requests access to a record.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9" sz="1200">
                          <a:solidFill>
                            <a:srgbClr val="000000"/>
                          </a:solidFill>
                          <a:latin typeface="Roboto"/>
                        </a:rPr>
                        <a:t>ACL/script control is invoked.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1" sz="1200">
                          <a:solidFill>
                            <a:srgbClr val="000000"/>
                          </a:solidFill>
                          <a:latin typeface="Roboto"/>
                        </a:rPr>
                        <a:t>Configured field value is read.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Value is compared with the access condition.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1" sz="1200">
                          <a:solidFill>
                            <a:srgbClr val="000000"/>
                          </a:solidFill>
                          <a:latin typeface="Roboto"/>
                        </a:rPr>
                        <a:t>System grants or denies access based on the result.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339979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4" b="1" sz="2200">
                <a:solidFill>
                  <a:srgbClr val="000000"/>
                </a:solidFill>
                <a:latin typeface="Roboto"/>
              </a:rPr>
              <a:t>4. Field-Value Based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390" y="1013460"/>
            <a:ext cx="9391650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8" sz="1300">
                <a:solidFill>
                  <a:srgbClr val="000000"/>
                </a:solidFill>
                <a:latin typeface="Roboto"/>
              </a:rPr>
              <a:t>Example: use an </a:t>
            </a:r>
            <a:r>
              <a:rPr spc="54" b="1" sz="1300">
                <a:solidFill>
                  <a:srgbClr val="000000"/>
                </a:solidFill>
                <a:latin typeface="Roboto"/>
              </a:rPr>
              <a:t>Access_Status</a:t>
            </a:r>
            <a:r>
              <a:rPr spc="-3" sz="1300">
                <a:solidFill>
                  <a:srgbClr val="000000"/>
                </a:solidFill>
                <a:latin typeface="Roboto"/>
              </a:rPr>
              <a:t> field to classify records. The actual field name and values should be replaced with the project's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390" y="1254760"/>
            <a:ext cx="19913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300">
                <a:solidFill>
                  <a:srgbClr val="000000"/>
                </a:solidFill>
                <a:latin typeface="Roboto"/>
              </a:rPr>
              <a:t>configured Salesforce field.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5650" y="1549400"/>
          <a:ext cx="9180830" cy="177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0950"/>
                <a:gridCol w="6659880"/>
              </a:tblGrid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5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43" b="1" sz="1200">
                          <a:solidFill>
                            <a:srgbClr val="FFFFFF"/>
                          </a:solidFill>
                          <a:latin typeface="Roboto"/>
                        </a:rPr>
                        <a:t>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636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5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42" b="1" sz="1200">
                          <a:solidFill>
                            <a:srgbClr val="FFFFFF"/>
                          </a:solidFill>
                          <a:latin typeface="Roboto"/>
                        </a:rPr>
                        <a:t>Illustrative Result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63646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10" sz="1200">
                          <a:solidFill>
                            <a:srgbClr val="000000"/>
                          </a:solidFill>
                          <a:latin typeface="Roboto"/>
                        </a:rPr>
                        <a:t>Allowed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4" sz="1200">
                          <a:solidFill>
                            <a:srgbClr val="000000"/>
                          </a:solidFill>
                          <a:latin typeface="Roboto"/>
                        </a:rPr>
                        <a:t>Access granted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2" sz="1200">
                          <a:solidFill>
                            <a:srgbClr val="000000"/>
                          </a:solidFill>
                          <a:latin typeface="Roboto"/>
                        </a:rPr>
                        <a:t>Restricted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0" sz="1200">
                          <a:solidFill>
                            <a:srgbClr val="000000"/>
                          </a:solidFill>
                          <a:latin typeface="Roboto"/>
                        </a:rPr>
                        <a:t>Access denied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6" sz="1200">
                          <a:solidFill>
                            <a:srgbClr val="000000"/>
                          </a:solidFill>
                          <a:latin typeface="Roboto"/>
                        </a:rPr>
                        <a:t>Pending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4" sz="1200">
                          <a:solidFill>
                            <a:srgbClr val="000000"/>
                          </a:solidFill>
                          <a:latin typeface="Roboto"/>
                        </a:rPr>
                        <a:t>Handled according to the configured business rule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239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Blank / Invalid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1" sz="1200">
                          <a:solidFill>
                            <a:srgbClr val="000000"/>
                          </a:solidFill>
                          <a:latin typeface="Roboto"/>
                        </a:rPr>
                        <a:t>Safely denied or handled by validation logic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299593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b="1" sz="2200">
                <a:solidFill>
                  <a:srgbClr val="000000"/>
                </a:solidFill>
                <a:latin typeface="Roboto"/>
              </a:rPr>
              <a:t>5. Script Control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390" y="1014730"/>
            <a:ext cx="9817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300">
                <a:solidFill>
                  <a:srgbClr val="000000"/>
                </a:solidFill>
                <a:latin typeface="Roboto"/>
              </a:rPr>
              <a:t>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390" y="1496060"/>
            <a:ext cx="26924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300">
                <a:solidFill>
                  <a:srgbClr val="000000"/>
                </a:solidFill>
                <a:latin typeface="Roboto"/>
              </a:rPr>
              <a:t>IF Record.Access_Status = 'Allowed'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390" y="1737360"/>
            <a:ext cx="25692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300">
                <a:solidFill>
                  <a:srgbClr val="000000"/>
                </a:solidFill>
                <a:latin typeface="Roboto"/>
              </a:rPr>
              <a:t>THEN permit the requested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390" y="1978660"/>
            <a:ext cx="42164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sz="1300">
                <a:solidFill>
                  <a:srgbClr val="000000"/>
                </a:solidFill>
                <a:latin typeface="Roboto"/>
              </a:rPr>
              <a:t>ELSE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390" y="2219960"/>
            <a:ext cx="91694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300">
                <a:solidFill>
                  <a:srgbClr val="000000"/>
                </a:solidFill>
                <a:latin typeface="Roboto"/>
              </a:rPr>
              <a:t>deny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390" y="2550160"/>
            <a:ext cx="91986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300">
                <a:solidFill>
                  <a:srgbClr val="000000"/>
                </a:solidFill>
                <a:latin typeface="Roboto"/>
              </a:rPr>
              <a:t>For a real implementation, the script should use the platform's supported ACL/security APIs and should consider the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390" y="2791460"/>
            <a:ext cx="600964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300">
                <a:solidFill>
                  <a:srgbClr val="000000"/>
                </a:solidFill>
                <a:latin typeface="Roboto"/>
              </a:rPr>
              <a:t>being requested, user permissions, ownership, and other applicable security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513969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b="1" sz="2200">
                <a:solidFill>
                  <a:srgbClr val="000000"/>
                </a:solidFill>
                <a:latin typeface="Roboto"/>
              </a:rPr>
              <a:t>6. Tableau Performance-Test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390" y="1013460"/>
            <a:ext cx="913003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300">
                <a:solidFill>
                  <a:srgbClr val="000000"/>
                </a:solidFill>
                <a:latin typeface="Roboto"/>
              </a:rPr>
              <a:t>The uploaded project template organizes performance testing around data rendering, preprocessing, filters, calculation fields,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390" y="1244600"/>
            <a:ext cx="4870450" cy="1752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300">
                <a:solidFill>
                  <a:srgbClr val="000000"/>
                </a:solidFill>
                <a:latin typeface="Roboto"/>
              </a:rPr>
              <a:t>dashboard design, and story design. </a:t>
            </a:r>
            <a:r>
              <a:rPr spc="636" sz="1300">
                <a:solidFill>
                  <a:srgbClr val="000000"/>
                </a:solidFill>
                <a:latin typeface="Roboto"/>
              </a:rPr>
              <a:t>I</a:t>
            </a:r>
            <a:r>
              <a:rPr spc="-26" sz="1300">
                <a:solidFill>
                  <a:srgbClr val="000000"/>
                </a:solidFill>
                <a:latin typeface="Roboto"/>
              </a:rPr>
              <a:t>filecite</a:t>
            </a:r>
            <a:r>
              <a:rPr spc="636" sz="1300">
                <a:solidFill>
                  <a:srgbClr val="000000"/>
                </a:solidFill>
                <a:latin typeface="Roboto"/>
              </a:rPr>
              <a:t>I</a:t>
            </a:r>
            <a:r>
              <a:rPr spc="-19" sz="1300">
                <a:solidFill>
                  <a:srgbClr val="000000"/>
                </a:solidFill>
                <a:latin typeface="Roboto"/>
              </a:rPr>
              <a:t>turn1file0</a:t>
            </a:r>
            <a:r>
              <a:rPr spc="626" sz="1300">
                <a:solidFill>
                  <a:srgbClr val="000000"/>
                </a:solidFill>
                <a:latin typeface="Roboto"/>
              </a:rPr>
              <a:t>I</a:t>
            </a:r>
            <a:r>
              <a:rPr spc="16" sz="1300">
                <a:solidFill>
                  <a:srgbClr val="000000"/>
                </a:solidFill>
                <a:latin typeface="Roboto"/>
              </a:rPr>
              <a:t>L8-L16</a:t>
            </a:r>
            <a:r>
              <a:rPr spc="636" sz="1300">
                <a:solidFill>
                  <a:srgbClr val="000000"/>
                </a:solidFill>
                <a:latin typeface="Roboto"/>
              </a:rPr>
              <a:t>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5650" y="1549400"/>
          <a:ext cx="9180830" cy="2311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9930"/>
                <a:gridCol w="7200900"/>
              </a:tblGrid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19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27" b="1" sz="1050">
                          <a:solidFill>
                            <a:srgbClr val="FFFFFF"/>
                          </a:solidFill>
                          <a:latin typeface="Roboto"/>
                        </a:rPr>
                        <a:t>Parameter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636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9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31" b="1" sz="1050">
                          <a:solidFill>
                            <a:srgbClr val="FFFFFF"/>
                          </a:solidFill>
                          <a:latin typeface="Roboto"/>
                        </a:rPr>
                        <a:t>How it relates to this project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63646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9" sz="1050">
                          <a:solidFill>
                            <a:srgbClr val="000000"/>
                          </a:solidFill>
                          <a:latin typeface="Roboto"/>
                        </a:rPr>
                        <a:t>Data Rendered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6" sz="1050">
                          <a:solidFill>
                            <a:srgbClr val="000000"/>
                          </a:solidFill>
                          <a:latin typeface="Roboto"/>
                        </a:rPr>
                        <a:t>Display records with their access-status / authorization-related fields.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2" sz="1050">
                          <a:solidFill>
                            <a:srgbClr val="000000"/>
                          </a:solidFill>
                          <a:latin typeface="Roboto"/>
                        </a:rPr>
                        <a:t>Data Preprocessing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4" sz="1050">
                          <a:solidFill>
                            <a:srgbClr val="000000"/>
                          </a:solidFill>
                          <a:latin typeface="Roboto"/>
                        </a:rPr>
                        <a:t>Clean, validate, and prepare field values before analysis or visualization.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8" sz="1050">
                          <a:solidFill>
                            <a:srgbClr val="000000"/>
                          </a:solidFill>
                          <a:latin typeface="Roboto"/>
                        </a:rPr>
                        <a:t>Utilization of Filters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4" sz="1050">
                          <a:solidFill>
                            <a:srgbClr val="000000"/>
                          </a:solidFill>
                          <a:latin typeface="Roboto"/>
                        </a:rPr>
                        <a:t>Filter records by field values such as Allowed, Restricted, or Pending.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4" sz="1050">
                          <a:solidFill>
                            <a:srgbClr val="000000"/>
                          </a:solidFill>
                          <a:latin typeface="Roboto"/>
                        </a:rPr>
                        <a:t>Calculation Fields Used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4" sz="1050">
                          <a:solidFill>
                            <a:srgbClr val="000000"/>
                          </a:solidFill>
                          <a:latin typeface="Roboto"/>
                        </a:rPr>
                        <a:t>Create calculated indicators such as accessible vs restricted record counts.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8" sz="1050">
                          <a:solidFill>
                            <a:srgbClr val="000000"/>
                          </a:solidFill>
                          <a:latin typeface="Roboto"/>
                        </a:rPr>
                        <a:t>Dashboard Design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4" sz="1050">
                          <a:solidFill>
                            <a:srgbClr val="000000"/>
                          </a:solidFill>
                          <a:latin typeface="Roboto"/>
                        </a:rPr>
                        <a:t>Show access-status distribution and key record metrics.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9" sz="1050">
                          <a:solidFill>
                            <a:srgbClr val="000000"/>
                          </a:solidFill>
                          <a:latin typeface="Roboto"/>
                        </a:rPr>
                        <a:t>Story Design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5" sz="1050">
                          <a:solidFill>
                            <a:srgbClr val="000000"/>
                          </a:solidFill>
                          <a:latin typeface="Roboto"/>
                        </a:rPr>
                        <a:t>Present the flow from data preparation to access-condition analysis.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450215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b="1" sz="2200">
                <a:solidFill>
                  <a:srgbClr val="000000"/>
                </a:solidFill>
                <a:latin typeface="Roboto"/>
              </a:rPr>
              <a:t>7. Dashboard &amp; Visualization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990" y="1013460"/>
            <a:ext cx="148844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1300">
                <a:solidFill>
                  <a:srgbClr val="000000"/>
                </a:solidFill>
                <a:latin typeface="Roboto"/>
              </a:rPr>
              <a:t>• KPI: Total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1990" y="1343660"/>
            <a:ext cx="1911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300">
                <a:solidFill>
                  <a:srgbClr val="000000"/>
                </a:solidFill>
                <a:latin typeface="Roboto"/>
              </a:rPr>
              <a:t>• KPI: Accessible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990" y="1673860"/>
            <a:ext cx="186562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1300">
                <a:solidFill>
                  <a:srgbClr val="000000"/>
                </a:solidFill>
                <a:latin typeface="Roboto"/>
              </a:rPr>
              <a:t>• KPI: Restricted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990" y="2004060"/>
            <a:ext cx="32054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300">
                <a:solidFill>
                  <a:srgbClr val="000000"/>
                </a:solidFill>
                <a:latin typeface="Roboto"/>
              </a:rPr>
              <a:t>• Bar chart: Record count by Access_Status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" y="2334260"/>
            <a:ext cx="242442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300">
                <a:solidFill>
                  <a:srgbClr val="000000"/>
                </a:solidFill>
                <a:latin typeface="Roboto"/>
              </a:rPr>
              <a:t>• Filter: Access_Status /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" y="2664460"/>
            <a:ext cx="34074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300">
                <a:solidFill>
                  <a:srgbClr val="000000"/>
                </a:solidFill>
                <a:latin typeface="Roboto"/>
              </a:rPr>
              <a:t>• Table: Record-level status and relevant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990" y="2994660"/>
            <a:ext cx="5941060" cy="166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" sz="1300">
                <a:solidFill>
                  <a:srgbClr val="000000"/>
                </a:solidFill>
                <a:latin typeface="Roboto"/>
              </a:rPr>
              <a:t>• Story sequence: Overview </a:t>
            </a:r>
            <a:r>
              <a:rPr spc="-4" sz="13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8" sz="1300">
                <a:solidFill>
                  <a:srgbClr val="000000"/>
                </a:solidFill>
                <a:latin typeface="Roboto"/>
              </a:rPr>
              <a:t> Field Analysis </a:t>
            </a:r>
            <a:r>
              <a:rPr spc="6" sz="13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8" sz="1300">
                <a:solidFill>
                  <a:srgbClr val="000000"/>
                </a:solidFill>
                <a:latin typeface="Roboto"/>
              </a:rPr>
              <a:t> Restricted Records </a:t>
            </a:r>
            <a:r>
              <a:rPr spc="-4" sz="13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-6" sz="1300">
                <a:solidFill>
                  <a:srgbClr val="000000"/>
                </a:solidFill>
                <a:latin typeface="Roboto"/>
              </a:rPr>
              <a:t>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299593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0" b="1" sz="2200">
                <a:solidFill>
                  <a:srgbClr val="000000"/>
                </a:solidFill>
                <a:latin typeface="Roboto"/>
              </a:rPr>
              <a:t>8. Testing &amp;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55650" y="977900"/>
          <a:ext cx="9180829" cy="198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39"/>
                <a:gridCol w="3420110"/>
                <a:gridCol w="4500880"/>
              </a:tblGrid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</a:p>
                    <a:p>
                      <a:pPr marL="72390" algn="l">
                        <a:lnSpc>
                          <a:spcPts val="1100"/>
                        </a:lnSpc>
                      </a:pPr>
                      <a:r>
                        <a:rPr spc="32" b="1" sz="1100">
                          <a:solidFill>
                            <a:srgbClr val="FFFFFF"/>
                          </a:solidFill>
                          <a:latin typeface="Roboto"/>
                        </a:rPr>
                        <a:t>Test Case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636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</a:p>
                    <a:p>
                      <a:pPr marL="73660" algn="l">
                        <a:lnSpc>
                          <a:spcPts val="1100"/>
                        </a:lnSpc>
                      </a:pPr>
                      <a:r>
                        <a:rPr spc="32" b="1" sz="1100">
                          <a:solidFill>
                            <a:srgbClr val="FFFFFF"/>
                          </a:solidFill>
                          <a:latin typeface="Roboto"/>
                        </a:rPr>
                        <a:t>Input / Condition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6364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</a:p>
                    <a:p>
                      <a:pPr marL="73660" algn="l">
                        <a:lnSpc>
                          <a:spcPts val="1100"/>
                        </a:lnSpc>
                      </a:pPr>
                      <a:r>
                        <a:rPr spc="47" b="1" sz="1100">
                          <a:solidFill>
                            <a:srgbClr val="FFFFFF"/>
                          </a:solidFill>
                          <a:latin typeface="Roboto"/>
                        </a:rPr>
                        <a:t>Expected Result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263646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2390" algn="l">
                        <a:lnSpc>
                          <a:spcPts val="1100"/>
                        </a:lnSpc>
                      </a:pPr>
                      <a:r>
                        <a:rPr spc="29" sz="1100">
                          <a:solidFill>
                            <a:srgbClr val="000000"/>
                          </a:solidFill>
                          <a:latin typeface="Roboto"/>
                        </a:rPr>
                        <a:t>TC-01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00"/>
                        </a:lnSpc>
                      </a:pPr>
                      <a:r>
                        <a:rPr spc="-3" sz="1100">
                          <a:solidFill>
                            <a:srgbClr val="000000"/>
                          </a:solidFill>
                          <a:latin typeface="Roboto"/>
                        </a:rPr>
                        <a:t>Allowed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00"/>
                        </a:lnSpc>
                      </a:pPr>
                      <a:r>
                        <a:rPr spc="-10" sz="1100">
                          <a:solidFill>
                            <a:srgbClr val="000000"/>
                          </a:solidFill>
                          <a:latin typeface="Roboto"/>
                        </a:rPr>
                        <a:t>Access permitted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2390" algn="l">
                        <a:lnSpc>
                          <a:spcPts val="1100"/>
                        </a:lnSpc>
                      </a:pPr>
                      <a:r>
                        <a:rPr spc="29" sz="1100">
                          <a:solidFill>
                            <a:srgbClr val="000000"/>
                          </a:solidFill>
                          <a:latin typeface="Roboto"/>
                        </a:rPr>
                        <a:t>TC-02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00"/>
                        </a:lnSpc>
                      </a:pPr>
                      <a:r>
                        <a:rPr spc="-1" sz="1100">
                          <a:solidFill>
                            <a:srgbClr val="000000"/>
                          </a:solidFill>
                          <a:latin typeface="Roboto"/>
                        </a:rPr>
                        <a:t>Restricted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00"/>
                        </a:lnSpc>
                      </a:pPr>
                      <a:r>
                        <a:rPr spc="1" sz="1100">
                          <a:solidFill>
                            <a:srgbClr val="000000"/>
                          </a:solidFill>
                          <a:latin typeface="Roboto"/>
                        </a:rPr>
                        <a:t>Access denied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2390" algn="l">
                        <a:lnSpc>
                          <a:spcPts val="1100"/>
                        </a:lnSpc>
                      </a:pPr>
                      <a:r>
                        <a:rPr spc="29" sz="1100">
                          <a:solidFill>
                            <a:srgbClr val="000000"/>
                          </a:solidFill>
                          <a:latin typeface="Roboto"/>
                        </a:rPr>
                        <a:t>TC-03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00"/>
                        </a:lnSpc>
                      </a:pPr>
                      <a:r>
                        <a:rPr spc="2" sz="1100">
                          <a:solidFill>
                            <a:srgbClr val="000000"/>
                          </a:solidFill>
                          <a:latin typeface="Roboto"/>
                        </a:rPr>
                        <a:t>Pending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00"/>
                        </a:lnSpc>
                      </a:pPr>
                      <a:r>
                        <a:rPr spc="0" sz="1100">
                          <a:solidFill>
                            <a:srgbClr val="000000"/>
                          </a:solidFill>
                          <a:latin typeface="Roboto"/>
                        </a:rPr>
                        <a:t>Configured rule applied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2390" algn="l">
                        <a:lnSpc>
                          <a:spcPts val="1100"/>
                        </a:lnSpc>
                      </a:pPr>
                      <a:r>
                        <a:rPr spc="29" sz="1100">
                          <a:solidFill>
                            <a:srgbClr val="000000"/>
                          </a:solidFill>
                          <a:latin typeface="Roboto"/>
                        </a:rPr>
                        <a:t>TC-04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00"/>
                        </a:lnSpc>
                      </a:pPr>
                      <a:r>
                        <a:rPr spc="-1" sz="1100">
                          <a:solidFill>
                            <a:srgbClr val="000000"/>
                          </a:solidFill>
                          <a:latin typeface="Roboto"/>
                        </a:rPr>
                        <a:t>Blank / invalid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00"/>
                        </a:lnSpc>
                      </a:pPr>
                      <a:r>
                        <a:rPr spc="0" sz="1100">
                          <a:solidFill>
                            <a:srgbClr val="000000"/>
                          </a:solidFill>
                          <a:latin typeface="Roboto"/>
                        </a:rPr>
                        <a:t>Safe validation or denial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2390" algn="l">
                        <a:lnSpc>
                          <a:spcPts val="1100"/>
                        </a:lnSpc>
                      </a:pPr>
                      <a:r>
                        <a:rPr spc="29" sz="1100">
                          <a:solidFill>
                            <a:srgbClr val="000000"/>
                          </a:solidFill>
                          <a:latin typeface="Roboto"/>
                        </a:rPr>
                        <a:t>TC-05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00"/>
                        </a:lnSpc>
                      </a:pPr>
                      <a:r>
                        <a:rPr spc="4" sz="1100">
                          <a:solidFill>
                            <a:srgbClr val="000000"/>
                          </a:solidFill>
                          <a:latin typeface="Roboto"/>
                        </a:rPr>
                        <a:t>Unauthorized user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00"/>
                        </a:lnSpc>
                      </a:pPr>
                      <a:r>
                        <a:rPr spc="-4" sz="1100">
                          <a:solidFill>
                            <a:srgbClr val="000000"/>
                          </a:solidFill>
                          <a:latin typeface="Roboto"/>
                        </a:rPr>
                        <a:t>Access denied according to security policy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7310" y="7218680"/>
            <a:ext cx="3619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900">
                <a:solidFill>
                  <a:srgbClr val="000000"/>
                </a:solidFill>
                <a:latin typeface="Roboto"/>
              </a:rP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287274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b="1" sz="2200">
                <a:solidFill>
                  <a:srgbClr val="000000"/>
                </a:solidFill>
                <a:latin typeface="Roboto"/>
              </a:rPr>
              <a:t>9. Benefits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990" y="1013460"/>
            <a:ext cx="269113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300">
                <a:solidFill>
                  <a:srgbClr val="000000"/>
                </a:solidFill>
                <a:latin typeface="Roboto"/>
              </a:rPr>
              <a:t>• Fine-grained record access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1990" y="1343660"/>
            <a:ext cx="31318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300">
                <a:solidFill>
                  <a:srgbClr val="000000"/>
                </a:solidFill>
                <a:latin typeface="Roboto"/>
              </a:rPr>
              <a:t>• Dynamic decisions based on record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990" y="1673860"/>
            <a:ext cx="30403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300">
                <a:solidFill>
                  <a:srgbClr val="000000"/>
                </a:solidFill>
                <a:latin typeface="Roboto"/>
              </a:rPr>
              <a:t>• Reduced exposure of restricted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990" y="2004060"/>
            <a:ext cx="32512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300">
                <a:solidFill>
                  <a:srgbClr val="000000"/>
                </a:solidFill>
                <a:latin typeface="Roboto"/>
              </a:rPr>
              <a:t>• Consistent and testable authorization logic.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" y="2334260"/>
            <a:ext cx="397637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300">
                <a:solidFill>
                  <a:srgbClr val="000000"/>
                </a:solidFill>
                <a:latin typeface="Roboto"/>
              </a:rPr>
              <a:t>• Supports reporting and dashboard-based monitoring.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" y="2664460"/>
            <a:ext cx="33972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300">
                <a:solidFill>
                  <a:srgbClr val="000000"/>
                </a:solidFill>
                <a:latin typeface="Roboto"/>
              </a:rPr>
              <a:t>• Least-privilege access should be maintained.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990" y="2994660"/>
            <a:ext cx="40589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300">
                <a:solidFill>
                  <a:srgbClr val="000000"/>
                </a:solidFill>
                <a:latin typeface="Roboto"/>
              </a:rPr>
              <a:t>• Unexpected or blank values should be handled safely.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5560" y="7218680"/>
            <a:ext cx="4254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900">
                <a:solidFill>
                  <a:srgbClr val="000000"/>
                </a:solidFill>
                <a:latin typeface="Roboto"/>
              </a:rPr>
              <a:t>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0390" y="570230"/>
            <a:ext cx="198755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9" b="1" sz="2200">
                <a:solidFill>
                  <a:srgbClr val="000000"/>
                </a:solidFill>
                <a:latin typeface="Roboto"/>
              </a:rPr>
              <a:t>10.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0390" y="1013460"/>
            <a:ext cx="921258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300">
                <a:solidFill>
                  <a:srgbClr val="000000"/>
                </a:solidFill>
                <a:latin typeface="Roboto"/>
              </a:rPr>
              <a:t>Script-controlled ACLs can provide a structured mechanism for restricting record access according to a field value.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390" y="1254760"/>
            <a:ext cx="941451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300">
                <a:solidFill>
                  <a:srgbClr val="000000"/>
                </a:solidFill>
                <a:latin typeface="Roboto"/>
              </a:rPr>
              <a:t>combines authorization logic with a clear performance-test and visualization structure, making the access condition easier to test,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390" y="1496060"/>
            <a:ext cx="153289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300">
                <a:solidFill>
                  <a:srgbClr val="000000"/>
                </a:solidFill>
                <a:latin typeface="Roboto"/>
              </a:rPr>
              <a:t>monitor, and explain.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390" y="1818639"/>
            <a:ext cx="94932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00">
                <a:solidFill>
                  <a:srgbClr val="000000"/>
                </a:solidFill>
                <a:latin typeface="Roboto"/>
              </a:rPr>
              <a:t>Note: The uploaded source specifically provides the performance-test headings and Tableau-oriented parameters. The ACL workflow, example field values, pseudocode,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390" y="1996439"/>
            <a:ext cx="777875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00">
                <a:solidFill>
                  <a:srgbClr val="000000"/>
                </a:solidFill>
                <a:latin typeface="Roboto"/>
              </a:rPr>
              <a:t>and test cases in this presentation are project-content expansions based on the requested title, not statements contained in the source 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5560" y="7218680"/>
            <a:ext cx="4254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900">
                <a:solidFill>
                  <a:srgbClr val="000000"/>
                </a:solidFill>
                <a:latin typeface="Roboto"/>
              </a:rPr>
              <a:t>Page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88790" y="1667510"/>
            <a:ext cx="211455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2" b="1" sz="2800">
                <a:solidFill>
                  <a:srgbClr val="000000"/>
                </a:solidFill>
                <a:latin typeface="Roboto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67180" y="2501900"/>
            <a:ext cx="755777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8" sz="1500">
                <a:solidFill>
                  <a:srgbClr val="000000"/>
                </a:solidFill>
                <a:latin typeface="Roboto"/>
              </a:rPr>
              <a:t>SCRIPT CONTROL – ACL RESTRICTED RECORD ACCESS BASED ON FIELD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15560" y="7218680"/>
            <a:ext cx="425450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900">
                <a:solidFill>
                  <a:srgbClr val="000000"/>
                </a:solidFill>
                <a:latin typeface="Roboto"/>
              </a:rPr>
              <a:t>Page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