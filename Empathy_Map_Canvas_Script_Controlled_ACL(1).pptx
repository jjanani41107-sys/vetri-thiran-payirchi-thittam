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36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480" y="4069079"/>
            <a:ext cx="2857499" cy="197739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6979" y="4069079"/>
            <a:ext cx="2857500" cy="197739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480" y="6047740"/>
            <a:ext cx="2857499" cy="197866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6979" y="6047740"/>
            <a:ext cx="2857500" cy="197866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480" y="8026400"/>
            <a:ext cx="5715000" cy="16522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34690" y="601980"/>
            <a:ext cx="109220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34" b="1" sz="1400">
                <a:solidFill>
                  <a:srgbClr val="000000"/>
                </a:solidFill>
                <a:latin typeface="Noto Serif"/>
              </a:rPr>
              <a:t>Ideation Phase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4340" y="819150"/>
            <a:ext cx="161290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48" b="1" sz="1400">
                <a:solidFill>
                  <a:srgbClr val="000000"/>
                </a:solidFill>
                <a:latin typeface="Noto Serif"/>
              </a:rPr>
              <a:t>Empathize &amp; Discover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19480" y="1163320"/>
          <a:ext cx="5713728" cy="11976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57499"/>
                <a:gridCol w="2856229"/>
              </a:tblGrid>
              <a:tr h="256540">
                <a:tc>
                  <a:txBody>
                    <a:bodyPr/>
                    <a:lstStyle/>
                    <a:p>
                      <a:pPr>
                        <a:lnSpc>
                          <a:spcPts val="490"/>
                        </a:lnSpc>
                      </a:pPr>
                    </a:p>
                    <a:p>
                      <a:pPr marL="58419" algn="l">
                        <a:lnSpc>
                          <a:spcPts val="1100"/>
                        </a:lnSpc>
                      </a:pPr>
                      <a:r>
                        <a:rPr spc="-69" sz="1100">
                          <a:solidFill>
                            <a:srgbClr val="000000"/>
                          </a:solidFill>
                          <a:latin typeface="Noto Serif"/>
                        </a:rPr>
                        <a:t>Date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90"/>
                        </a:lnSpc>
                      </a:pPr>
                    </a:p>
                    <a:p>
                      <a:pPr marL="59690" algn="l">
                        <a:lnSpc>
                          <a:spcPts val="1100"/>
                        </a:lnSpc>
                      </a:pPr>
                      <a:r>
                        <a:rPr spc="-69" sz="1100">
                          <a:solidFill>
                            <a:srgbClr val="000000"/>
                          </a:solidFill>
                          <a:latin typeface="Noto Serif"/>
                        </a:rPr>
                        <a:t>30 September 2026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56540">
                <a:tc>
                  <a:txBody>
                    <a:bodyPr/>
                    <a:lstStyle/>
                    <a:p>
                      <a:pPr>
                        <a:lnSpc>
                          <a:spcPts val="490"/>
                        </a:lnSpc>
                      </a:pPr>
                    </a:p>
                    <a:p>
                      <a:pPr marL="58419" algn="l">
                        <a:lnSpc>
                          <a:spcPts val="1100"/>
                        </a:lnSpc>
                      </a:pPr>
                      <a:r>
                        <a:rPr spc="-103" sz="1100">
                          <a:solidFill>
                            <a:srgbClr val="000000"/>
                          </a:solidFill>
                          <a:latin typeface="Noto Serif"/>
                        </a:rPr>
                        <a:t>Team ID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5080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90"/>
                        </a:lnSpc>
                      </a:pPr>
                    </a:p>
                    <a:p>
                      <a:pPr marL="59690" algn="l">
                        <a:lnSpc>
                          <a:spcPts val="1100"/>
                        </a:lnSpc>
                      </a:pPr>
                      <a:r>
                        <a:rPr spc="-76" sz="1100">
                          <a:solidFill>
                            <a:srgbClr val="000000"/>
                          </a:solidFill>
                          <a:latin typeface="Noto Serif"/>
                        </a:rPr>
                        <a:t>SWTID-2026-3425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5080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426719">
                <a:tc>
                  <a:txBody>
                    <a:bodyPr/>
                    <a:lstStyle/>
                    <a:p>
                      <a:pPr>
                        <a:lnSpc>
                          <a:spcPts val="490"/>
                        </a:lnSpc>
                      </a:pPr>
                    </a:p>
                    <a:p>
                      <a:pPr marL="58419" algn="l">
                        <a:lnSpc>
                          <a:spcPts val="1100"/>
                        </a:lnSpc>
                      </a:pPr>
                      <a:r>
                        <a:rPr spc="-79" sz="1100">
                          <a:solidFill>
                            <a:srgbClr val="000000"/>
                          </a:solidFill>
                          <a:latin typeface="Noto Serif"/>
                        </a:rPr>
                        <a:t>Project Name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50"/>
                        </a:lnSpc>
                      </a:pPr>
                    </a:p>
                    <a:p>
                      <a:pPr marL="59690" algn="l">
                        <a:lnSpc>
                          <a:spcPts val="1340"/>
                        </a:lnSpc>
                      </a:pPr>
                      <a:r>
                        <a:rPr spc="-77" sz="1100">
                          <a:solidFill>
                            <a:srgbClr val="000000"/>
                          </a:solidFill>
                          <a:latin typeface="Noto Serif"/>
                        </a:rPr>
                        <a:t>Script-Controlled ACL – Restrict Record Access </a:t>
                      </a:r>
                      <a:br/>
                      <a:r>
                        <a:rPr spc="-83" sz="1100">
                          <a:solidFill>
                            <a:srgbClr val="000000"/>
                          </a:solidFill>
                          <a:latin typeface="Noto Serif"/>
                        </a:rPr>
                        <a:t>Based on Field Value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57810">
                <a:tc>
                  <a:txBody>
                    <a:bodyPr/>
                    <a:lstStyle/>
                    <a:p>
                      <a:pPr>
                        <a:lnSpc>
                          <a:spcPts val="490"/>
                        </a:lnSpc>
                      </a:pPr>
                    </a:p>
                    <a:p>
                      <a:pPr marL="58419" algn="l">
                        <a:lnSpc>
                          <a:spcPts val="1100"/>
                        </a:lnSpc>
                      </a:pPr>
                      <a:r>
                        <a:rPr spc="-112" sz="1100">
                          <a:solidFill>
                            <a:srgbClr val="000000"/>
                          </a:solidFill>
                          <a:latin typeface="Noto Serif"/>
                        </a:rPr>
                        <a:t>Maximum Marks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90"/>
                        </a:lnSpc>
                      </a:pPr>
                    </a:p>
                    <a:p>
                      <a:pPr marL="59690" algn="l">
                        <a:lnSpc>
                          <a:spcPts val="1100"/>
                        </a:lnSpc>
                      </a:pPr>
                      <a:r>
                        <a:rPr spc="-90" sz="1100">
                          <a:solidFill>
                            <a:srgbClr val="000000"/>
                          </a:solidFill>
                          <a:latin typeface="Noto Serif"/>
                        </a:rPr>
                        <a:t>4 Marks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15669" y="2566670"/>
            <a:ext cx="129032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13" b="1" sz="1100">
                <a:solidFill>
                  <a:srgbClr val="000000"/>
                </a:solidFill>
                <a:latin typeface="Noto Serif"/>
              </a:rPr>
              <a:t>Empathy Map Canvas: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5669" y="2801620"/>
            <a:ext cx="576453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9" sz="1100">
                <a:solidFill>
                  <a:srgbClr val="000000"/>
                </a:solidFill>
                <a:latin typeface="Noto Serif"/>
              </a:rPr>
              <a:t>An empathy map is a simple, easy-to-digest visual that captures knowledge about a user’s behaviours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5669" y="2971800"/>
            <a:ext cx="576325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1" sz="1100">
                <a:solidFill>
                  <a:srgbClr val="000000"/>
                </a:solidFill>
                <a:latin typeface="Noto Serif"/>
              </a:rPr>
              <a:t>and attitudes. It helps the team understand the true problem and the person experiencing it, by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5669" y="3143250"/>
            <a:ext cx="494792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7" sz="1100">
                <a:solidFill>
                  <a:srgbClr val="000000"/>
                </a:solidFill>
                <a:latin typeface="Noto Serif"/>
              </a:rPr>
              <a:t>looking at things from the user’s perspective along with his or her goals and challenges.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5669" y="3389629"/>
            <a:ext cx="576325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4" sz="1100">
                <a:solidFill>
                  <a:srgbClr val="000000"/>
                </a:solidFill>
                <a:latin typeface="Noto Serif"/>
              </a:rPr>
              <a:t>User Persona: ServiceNow Administrator / Security Admin who needs to protect sensitive records so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5669" y="3561079"/>
            <a:ext cx="414274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3" sz="1100">
                <a:solidFill>
                  <a:srgbClr val="000000"/>
                </a:solidFill>
                <a:latin typeface="Noto Serif"/>
              </a:rPr>
              <a:t>that only authorised users can access them, based on the value of a field.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5669" y="3858260"/>
            <a:ext cx="211582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14" b="1" sz="1100">
                <a:solidFill>
                  <a:srgbClr val="000000"/>
                </a:solidFill>
                <a:latin typeface="Noto Serif"/>
              </a:rPr>
              <a:t>Empathy Map: Script-Controlled ACL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919480" y="4075429"/>
          <a:ext cx="5713728" cy="56108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57499"/>
                <a:gridCol w="2856229"/>
              </a:tblGrid>
              <a:tr h="1977390"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  <a:p>
                      <a:pPr marL="83820" algn="l">
                        <a:lnSpc>
                          <a:spcPts val="1200"/>
                        </a:lnSpc>
                      </a:pPr>
                      <a:r>
                        <a:rPr spc="-126" b="1" sz="1200">
                          <a:solidFill>
                            <a:srgbClr val="000000"/>
                          </a:solidFill>
                          <a:latin typeface="Noto Serif"/>
                        </a:rPr>
                        <a:t>Think &amp; Feel</a:t>
                      </a:r>
                    </a:p>
                    <a:p>
                      <a:pPr marL="83820" algn="l">
                        <a:lnSpc>
                          <a:spcPts val="900"/>
                        </a:lnSpc>
                        <a:spcBef>
                          <a:spcPts val="310"/>
                        </a:spcBef>
                      </a:pPr>
                      <a:r>
                        <a:rPr spc="-62" i="1" sz="900">
                          <a:solidFill>
                            <a:srgbClr val="555555"/>
                          </a:solidFill>
                          <a:latin typeface="Noto Serif"/>
                        </a:rPr>
                        <a:t>What really counts, worries &amp; aspirations</a:t>
                      </a:r>
                    </a:p>
                    <a:p>
                      <a:pPr marL="172720" algn="l">
                        <a:lnSpc>
                          <a:spcPts val="1280"/>
                        </a:lnSpc>
                        <a:spcBef>
                          <a:spcPts val="400"/>
                        </a:spcBef>
                      </a:pPr>
                      <a:r>
                        <a:rPr spc="-111" sz="1000">
                          <a:solidFill>
                            <a:srgbClr val="000000"/>
                          </a:solidFill>
                          <a:latin typeface="Noto Sans Symbols"/>
                        </a:rPr>
                        <a:t>•</a:t>
                      </a:r>
                      <a:r>
                        <a:rPr spc="-59" sz="1050">
                          <a:solidFill>
                            <a:srgbClr val="000000"/>
                          </a:solidFill>
                          <a:latin typeface="Noto Serif"/>
                        </a:rPr>
                        <a:t> Is sensitive data really safe from </a:t>
                      </a:r>
                      <a:br/>
                    </a:p>
                    <a:p>
                      <a:pPr marL="172720" algn="l">
                        <a:lnSpc>
                          <a:spcPts val="1280"/>
                        </a:lnSpc>
                        <a:spcBef>
                          <a:spcPts val="300"/>
                        </a:spcBef>
                      </a:pPr>
                    </a:p>
                    <a:p>
                      <a:pPr marL="172720" algn="l">
                        <a:lnSpc>
                          <a:spcPts val="1280"/>
                        </a:lnSpc>
                        <a:spcBef>
                          <a:spcPts val="300"/>
                        </a:spcBef>
                      </a:pPr>
                    </a:p>
                    <a:p>
                      <a:pPr marL="172720" algn="l">
                        <a:lnSpc>
                          <a:spcPts val="1280"/>
                        </a:lnSpc>
                        <a:spcBef>
                          <a:spcPts val="300"/>
                        </a:spcBef>
                      </a:pP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e8f0f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  <a:p>
                      <a:pPr marL="85090" algn="l">
                        <a:lnSpc>
                          <a:spcPts val="1200"/>
                        </a:lnSpc>
                      </a:pPr>
                      <a:r>
                        <a:rPr spc="-162" b="1" sz="1200">
                          <a:solidFill>
                            <a:srgbClr val="000000"/>
                          </a:solidFill>
                          <a:latin typeface="Noto Serif"/>
                        </a:rPr>
                        <a:t>Hear</a:t>
                      </a:r>
                    </a:p>
                    <a:p>
                      <a:pPr marL="85090" algn="l">
                        <a:lnSpc>
                          <a:spcPts val="900"/>
                        </a:lnSpc>
                        <a:spcBef>
                          <a:spcPts val="310"/>
                        </a:spcBef>
                      </a:pPr>
                      <a:r>
                        <a:rPr spc="-56" i="1" sz="900">
                          <a:solidFill>
                            <a:srgbClr val="555555"/>
                          </a:solidFill>
                          <a:latin typeface="Noto Serif"/>
                        </a:rPr>
                        <a:t>What friends, boss &amp; influencers say</a:t>
                      </a:r>
                    </a:p>
                    <a:p>
                      <a:pPr marL="173990" algn="l">
                        <a:lnSpc>
                          <a:spcPts val="1280"/>
                        </a:lnSpc>
                        <a:spcBef>
                          <a:spcPts val="400"/>
                        </a:spcBef>
                      </a:pPr>
                      <a:r>
                        <a:rPr spc="-111" sz="1000">
                          <a:solidFill>
                            <a:srgbClr val="000000"/>
                          </a:solidFill>
                          <a:latin typeface="Noto Sans Symbols"/>
                        </a:rPr>
                        <a:t>•</a:t>
                      </a:r>
                      <a:r>
                        <a:rPr spc="-58" sz="1050">
                          <a:solidFill>
                            <a:srgbClr val="000000"/>
                          </a:solidFill>
                          <a:latin typeface="Noto Serif"/>
                        </a:rPr>
                        <a:t> Manager: “Only the right people should see </a:t>
                      </a:r>
                      <a:br/>
                    </a:p>
                    <a:p>
                      <a:pPr marL="173990" algn="l">
                        <a:lnSpc>
                          <a:spcPts val="1280"/>
                        </a:lnSpc>
                        <a:spcBef>
                          <a:spcPts val="300"/>
                        </a:spcBef>
                      </a:pPr>
                    </a:p>
                    <a:p>
                      <a:pPr marL="173990" algn="l">
                        <a:lnSpc>
                          <a:spcPts val="1280"/>
                        </a:lnSpc>
                        <a:spcBef>
                          <a:spcPts val="300"/>
                        </a:spcBef>
                      </a:pPr>
                    </a:p>
                    <a:p>
                      <a:pPr marL="173990" algn="l">
                        <a:lnSpc>
                          <a:spcPts val="1280"/>
                        </a:lnSpc>
                        <a:spcBef>
                          <a:spcPts val="300"/>
                        </a:spcBef>
                      </a:pP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4e5">
                        <a:alpha val="100000"/>
                      </a:srgbClr>
                    </a:solidFill>
                  </a:tcPr>
                </a:tc>
              </a:tr>
              <a:tr h="1977389">
                <a:tc>
                  <a:txBody>
                    <a:bodyPr/>
                    <a:lstStyle/>
                    <a:p>
                      <a:pPr>
                        <a:lnSpc>
                          <a:spcPts val="700"/>
                        </a:lnSpc>
                      </a:pPr>
                    </a:p>
                    <a:p>
                      <a:pPr marL="83820" algn="l">
                        <a:lnSpc>
                          <a:spcPts val="1200"/>
                        </a:lnSpc>
                      </a:pPr>
                      <a:r>
                        <a:rPr spc="-98" b="1" sz="1200">
                          <a:solidFill>
                            <a:srgbClr val="000000"/>
                          </a:solidFill>
                          <a:latin typeface="Noto Serif"/>
                        </a:rPr>
                        <a:t>See</a:t>
                      </a:r>
                    </a:p>
                    <a:p>
                      <a:pPr marL="83820" algn="l">
                        <a:lnSpc>
                          <a:spcPts val="900"/>
                        </a:lnSpc>
                        <a:spcBef>
                          <a:spcPts val="310"/>
                        </a:spcBef>
                      </a:pPr>
                      <a:r>
                        <a:rPr spc="-57" i="1" sz="900">
                          <a:solidFill>
                            <a:srgbClr val="555555"/>
                          </a:solidFill>
                          <a:latin typeface="Noto Serif"/>
                        </a:rPr>
                        <a:t>Environment, tools &amp; what the market offers</a:t>
                      </a:r>
                    </a:p>
                    <a:p>
                      <a:pPr marL="172720" algn="l">
                        <a:lnSpc>
                          <a:spcPts val="1280"/>
                        </a:lnSpc>
                        <a:spcBef>
                          <a:spcPts val="400"/>
                        </a:spcBef>
                      </a:pPr>
                      <a:r>
                        <a:rPr spc="-111" sz="1000">
                          <a:solidFill>
                            <a:srgbClr val="000000"/>
                          </a:solidFill>
                          <a:latin typeface="Noto Sans Symbols"/>
                        </a:rPr>
                        <a:t>•</a:t>
                      </a:r>
                      <a:r>
                        <a:rPr spc="-58" sz="1050">
                          <a:solidFill>
                            <a:srgbClr val="000000"/>
                          </a:solidFill>
                          <a:latin typeface="Noto Serif"/>
                        </a:rPr>
                        <a:t> Users viewing records that don’t belong to </a:t>
                      </a:r>
                      <a:br/>
                    </a:p>
                    <a:p>
                      <a:pPr marL="172720" algn="l">
                        <a:lnSpc>
                          <a:spcPts val="1280"/>
                        </a:lnSpc>
                        <a:spcBef>
                          <a:spcPts val="300"/>
                        </a:spcBef>
                      </a:pPr>
                    </a:p>
                    <a:p>
                      <a:pPr marL="172720" algn="l">
                        <a:lnSpc>
                          <a:spcPts val="1280"/>
                        </a:lnSpc>
                        <a:spcBef>
                          <a:spcPts val="300"/>
                        </a:spcBef>
                      </a:pPr>
                    </a:p>
                    <a:p>
                      <a:pPr marL="172720" algn="l">
                        <a:lnSpc>
                          <a:spcPts val="1280"/>
                        </a:lnSpc>
                        <a:spcBef>
                          <a:spcPts val="300"/>
                        </a:spcBef>
                      </a:pP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e6f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00"/>
                        </a:lnSpc>
                      </a:pPr>
                    </a:p>
                    <a:p>
                      <a:pPr marL="85090" algn="l">
                        <a:lnSpc>
                          <a:spcPts val="1200"/>
                        </a:lnSpc>
                      </a:pPr>
                      <a:r>
                        <a:rPr spc="-106" b="1" sz="1200">
                          <a:solidFill>
                            <a:srgbClr val="000000"/>
                          </a:solidFill>
                          <a:latin typeface="Noto Serif"/>
                        </a:rPr>
                        <a:t>Say &amp; Do</a:t>
                      </a:r>
                    </a:p>
                    <a:p>
                      <a:pPr marL="85090" algn="l">
                        <a:lnSpc>
                          <a:spcPts val="900"/>
                        </a:lnSpc>
                        <a:spcBef>
                          <a:spcPts val="310"/>
                        </a:spcBef>
                      </a:pPr>
                      <a:r>
                        <a:rPr spc="-59" i="1" sz="900">
                          <a:solidFill>
                            <a:srgbClr val="555555"/>
                          </a:solidFill>
                          <a:latin typeface="Noto Serif"/>
                        </a:rPr>
                        <a:t>Attitude in public, behaviour towards others</a:t>
                      </a:r>
                    </a:p>
                    <a:p>
                      <a:pPr marL="173990" algn="l">
                        <a:lnSpc>
                          <a:spcPts val="1280"/>
                        </a:lnSpc>
                        <a:spcBef>
                          <a:spcPts val="400"/>
                        </a:spcBef>
                      </a:pPr>
                      <a:r>
                        <a:rPr spc="-111" sz="1000">
                          <a:solidFill>
                            <a:srgbClr val="000000"/>
                          </a:solidFill>
                          <a:latin typeface="Noto Sans Symbols"/>
                        </a:rPr>
                        <a:t>•</a:t>
                      </a:r>
                      <a:r>
                        <a:rPr spc="-64" sz="1050">
                          <a:solidFill>
                            <a:srgbClr val="000000"/>
                          </a:solidFill>
                          <a:latin typeface="Noto Serif"/>
                        </a:rPr>
                        <a:t> Creates a script-based ACL using field values </a:t>
                      </a:r>
                    </a:p>
                    <a:p>
                      <a:pPr marL="173990" algn="l">
                        <a:lnSpc>
                          <a:spcPts val="1280"/>
                        </a:lnSpc>
                        <a:spcBef>
                          <a:spcPts val="300"/>
                        </a:spcBef>
                      </a:pPr>
                    </a:p>
                    <a:p>
                      <a:pPr marL="173990" algn="l">
                        <a:lnSpc>
                          <a:spcPts val="1280"/>
                        </a:lnSpc>
                        <a:spcBef>
                          <a:spcPts val="300"/>
                        </a:spcBef>
                      </a:pPr>
                    </a:p>
                    <a:p>
                      <a:pPr marL="173990" algn="l">
                        <a:lnSpc>
                          <a:spcPts val="1280"/>
                        </a:lnSpc>
                        <a:spcBef>
                          <a:spcPts val="300"/>
                        </a:spcBef>
                      </a:pP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ce8e6">
                        <a:alpha val="100000"/>
                      </a:srgbClr>
                    </a:solidFill>
                  </a:tcPr>
                </a:tc>
              </a:tr>
              <a:tr h="1656080">
                <a:tc>
                  <a:txBody>
                    <a:bodyPr/>
                    <a:lstStyle/>
                    <a:p>
                      <a:pPr>
                        <a:lnSpc>
                          <a:spcPts val="710"/>
                        </a:lnSpc>
                      </a:pPr>
                    </a:p>
                    <a:p>
                      <a:pPr marL="83820" algn="l">
                        <a:lnSpc>
                          <a:spcPts val="1200"/>
                        </a:lnSpc>
                      </a:pPr>
                      <a:r>
                        <a:rPr spc="-135" b="1" sz="1200">
                          <a:solidFill>
                            <a:srgbClr val="000000"/>
                          </a:solidFill>
                          <a:latin typeface="Noto Serif"/>
                        </a:rPr>
                        <a:t>Pain</a:t>
                      </a:r>
                    </a:p>
                    <a:p>
                      <a:pPr marL="83820" algn="l">
                        <a:lnSpc>
                          <a:spcPts val="900"/>
                        </a:lnSpc>
                        <a:spcBef>
                          <a:spcPts val="310"/>
                        </a:spcBef>
                      </a:pPr>
                      <a:r>
                        <a:rPr spc="-56" i="1" sz="900">
                          <a:solidFill>
                            <a:srgbClr val="555555"/>
                          </a:solidFill>
                          <a:latin typeface="Noto Serif"/>
                        </a:rPr>
                        <a:t>Fears, frustrations, obstacles</a:t>
                      </a:r>
                    </a:p>
                    <a:p>
                      <a:pPr marL="172720" algn="l">
                        <a:lnSpc>
                          <a:spcPts val="1460"/>
                        </a:lnSpc>
                        <a:spcBef>
                          <a:spcPts val="220"/>
                        </a:spcBef>
                      </a:pPr>
                      <a:r>
                        <a:rPr spc="-111" sz="1000">
                          <a:solidFill>
                            <a:srgbClr val="000000"/>
                          </a:solidFill>
                          <a:latin typeface="Noto Sans Symbols"/>
                        </a:rPr>
                        <a:t>•</a:t>
                      </a:r>
                      <a:r>
                        <a:rPr spc="-73" sz="1050">
                          <a:solidFill>
                            <a:srgbClr val="000000"/>
                          </a:solidFill>
                          <a:latin typeface="Noto Serif"/>
                        </a:rPr>
                        <a:t> Writing and debugging ACL scripts is difficult</a:t>
                      </a:r>
                      <a:r>
                        <a:rPr spc="-111" sz="1000">
                          <a:solidFill>
                            <a:srgbClr val="000000"/>
                          </a:solidFill>
                          <a:latin typeface="Noto Sans Symbols"/>
                        </a:rPr>
                        <a:t>•</a:t>
                      </a:r>
                      <a:r>
                        <a:rPr spc="-70" sz="1050">
                          <a:solidFill>
                            <a:srgbClr val="000000"/>
                          </a:solidFill>
                          <a:latin typeface="Noto Serif"/>
                        </a:rPr>
                        <a:t> A wrong script may block valid users or </a:t>
                      </a:r>
                      <a:br/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10"/>
                        </a:lnSpc>
                      </a:pPr>
                    </a:p>
                    <a:p>
                      <a:pPr marL="85090" algn="l">
                        <a:lnSpc>
                          <a:spcPts val="1200"/>
                        </a:lnSpc>
                      </a:pPr>
                      <a:r>
                        <a:rPr spc="-144" b="1" sz="1200">
                          <a:solidFill>
                            <a:srgbClr val="000000"/>
                          </a:solidFill>
                          <a:latin typeface="Noto Serif"/>
                        </a:rPr>
                        <a:t>Gain</a:t>
                      </a:r>
                    </a:p>
                    <a:p>
                      <a:pPr marL="85090" algn="l">
                        <a:lnSpc>
                          <a:spcPts val="900"/>
                        </a:lnSpc>
                        <a:spcBef>
                          <a:spcPts val="310"/>
                        </a:spcBef>
                      </a:pPr>
                      <a:r>
                        <a:rPr spc="-49" i="1" sz="900">
                          <a:solidFill>
                            <a:srgbClr val="555555"/>
                          </a:solidFill>
                          <a:latin typeface="Noto Serif"/>
                        </a:rPr>
                        <a:t>Wants / needs, measures of success</a:t>
                      </a:r>
                    </a:p>
                    <a:p>
                      <a:pPr marL="173990" algn="l">
                        <a:lnSpc>
                          <a:spcPts val="1460"/>
                        </a:lnSpc>
                        <a:spcBef>
                          <a:spcPts val="220"/>
                        </a:spcBef>
                      </a:pPr>
                      <a:r>
                        <a:rPr spc="-111" sz="1000">
                          <a:solidFill>
                            <a:srgbClr val="000000"/>
                          </a:solidFill>
                          <a:latin typeface="Noto Sans Symbols"/>
                        </a:rPr>
                        <a:t>•</a:t>
                      </a:r>
                      <a:r>
                        <a:rPr spc="-66" sz="1050">
                          <a:solidFill>
                            <a:srgbClr val="000000"/>
                          </a:solidFill>
                          <a:latin typeface="Noto Serif"/>
                        </a:rPr>
                        <a:t> Only authorised users can view records that 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236980" y="4716780"/>
            <a:ext cx="110363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4" sz="1050">
                <a:solidFill>
                  <a:srgbClr val="000000"/>
                </a:solidFill>
                <a:latin typeface="Noto Serif"/>
              </a:rPr>
              <a:t>unauthorized users?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917440"/>
            <a:ext cx="227203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11" sz="1000">
                <a:solidFill>
                  <a:srgbClr val="000000"/>
                </a:solidFill>
                <a:latin typeface="Noto Sans Symbols"/>
              </a:rPr>
              <a:t>•</a:t>
            </a:r>
            <a:r>
              <a:rPr spc="-64" sz="1050">
                <a:solidFill>
                  <a:srgbClr val="000000"/>
                </a:solidFill>
                <a:latin typeface="Noto Serif"/>
              </a:rPr>
              <a:t> Simple role-based ACLs are not flexible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6980" y="5080000"/>
            <a:ext cx="41020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6" sz="1050">
                <a:solidFill>
                  <a:srgbClr val="000000"/>
                </a:solidFill>
                <a:latin typeface="Noto Serif"/>
              </a:rPr>
              <a:t>enough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280660"/>
            <a:ext cx="258572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11" sz="1000">
                <a:solidFill>
                  <a:srgbClr val="000000"/>
                </a:solidFill>
                <a:latin typeface="Noto Sans Symbols"/>
              </a:rPr>
              <a:t>•</a:t>
            </a:r>
            <a:r>
              <a:rPr spc="-66" sz="1050">
                <a:solidFill>
                  <a:srgbClr val="000000"/>
                </a:solidFill>
                <a:latin typeface="Noto Serif"/>
              </a:rPr>
              <a:t> Worried about accidental data exposure and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6980" y="5443220"/>
            <a:ext cx="70993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1" sz="1050">
                <a:solidFill>
                  <a:srgbClr val="000000"/>
                </a:solidFill>
                <a:latin typeface="Noto Serif"/>
              </a:rPr>
              <a:t>audit failures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643880"/>
            <a:ext cx="247396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11" sz="1000">
                <a:solidFill>
                  <a:srgbClr val="000000"/>
                </a:solidFill>
                <a:latin typeface="Noto Sans Symbols"/>
              </a:rPr>
              <a:t>•</a:t>
            </a:r>
            <a:r>
              <a:rPr spc="-63" sz="1050">
                <a:solidFill>
                  <a:srgbClr val="000000"/>
                </a:solidFill>
                <a:latin typeface="Noto Serif"/>
              </a:rPr>
              <a:t> Wants a secure, rule-driven way to control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6980" y="5806440"/>
            <a:ext cx="73278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4" sz="1050">
                <a:solidFill>
                  <a:srgbClr val="000000"/>
                </a:solidFill>
                <a:latin typeface="Noto Serif"/>
              </a:rPr>
              <a:t>record access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95750" y="4716780"/>
            <a:ext cx="82550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3" sz="1050">
                <a:solidFill>
                  <a:srgbClr val="000000"/>
                </a:solidFill>
                <a:latin typeface="Noto Serif"/>
              </a:rPr>
              <a:t>these records.”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56050" y="4917440"/>
            <a:ext cx="234950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11" sz="1000">
                <a:solidFill>
                  <a:srgbClr val="000000"/>
                </a:solidFill>
                <a:latin typeface="Noto Sans Symbols"/>
              </a:rPr>
              <a:t>•</a:t>
            </a:r>
            <a:r>
              <a:rPr spc="-55" sz="1050">
                <a:solidFill>
                  <a:srgbClr val="000000"/>
                </a:solidFill>
                <a:latin typeface="Noto Serif"/>
              </a:rPr>
              <a:t> Colleagues: “Use a scripted ACL, not just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95750" y="5080000"/>
            <a:ext cx="35432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9" sz="1050">
                <a:solidFill>
                  <a:srgbClr val="000000"/>
                </a:solidFill>
                <a:latin typeface="Noto Serif"/>
              </a:rPr>
              <a:t>roles.”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56050" y="5280660"/>
            <a:ext cx="239776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11" sz="1000">
                <a:solidFill>
                  <a:srgbClr val="000000"/>
                </a:solidFill>
                <a:latin typeface="Noto Sans Symbols"/>
              </a:rPr>
              <a:t>•</a:t>
            </a:r>
            <a:r>
              <a:rPr spc="-59" sz="1050">
                <a:solidFill>
                  <a:srgbClr val="000000"/>
                </a:solidFill>
                <a:latin typeface="Noto Serif"/>
              </a:rPr>
              <a:t> Security team: “Follow the least-privilege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95750" y="5443220"/>
            <a:ext cx="55880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0" sz="1050">
                <a:solidFill>
                  <a:srgbClr val="000000"/>
                </a:solidFill>
                <a:latin typeface="Noto Serif"/>
              </a:rPr>
              <a:t>principle.”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56050" y="5643880"/>
            <a:ext cx="233934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11" sz="1000">
                <a:solidFill>
                  <a:srgbClr val="000000"/>
                </a:solidFill>
                <a:latin typeface="Noto Sans Symbols"/>
              </a:rPr>
              <a:t>•</a:t>
            </a:r>
            <a:r>
              <a:rPr spc="-54" sz="1050">
                <a:solidFill>
                  <a:srgbClr val="000000"/>
                </a:solidFill>
                <a:latin typeface="Noto Serif"/>
              </a:rPr>
              <a:t> Users: “I can’t open my records – access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95750" y="5806440"/>
            <a:ext cx="47117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8" sz="1050">
                <a:solidFill>
                  <a:srgbClr val="000000"/>
                </a:solidFill>
                <a:latin typeface="Noto Serif"/>
              </a:rPr>
              <a:t>denied!”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6980" y="6695440"/>
            <a:ext cx="28828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1" sz="1050">
                <a:solidFill>
                  <a:srgbClr val="000000"/>
                </a:solidFill>
                <a:latin typeface="Noto Serif"/>
              </a:rPr>
              <a:t>them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6896100"/>
            <a:ext cx="243713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11" sz="1000">
                <a:solidFill>
                  <a:srgbClr val="000000"/>
                </a:solidFill>
                <a:latin typeface="Noto Sans Symbols"/>
              </a:rPr>
              <a:t>•</a:t>
            </a:r>
            <a:r>
              <a:rPr spc="-73" sz="1050">
                <a:solidFill>
                  <a:srgbClr val="000000"/>
                </a:solidFill>
                <a:latin typeface="Noto Serif"/>
              </a:rPr>
              <a:t> ServiceNow ACL rules with conditions and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6980" y="7058659"/>
            <a:ext cx="35305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6" sz="1050">
                <a:solidFill>
                  <a:srgbClr val="000000"/>
                </a:solidFill>
                <a:latin typeface="Noto Serif"/>
              </a:rPr>
              <a:t>scripts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7259320"/>
            <a:ext cx="221742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11" sz="1000">
                <a:solidFill>
                  <a:srgbClr val="000000"/>
                </a:solidFill>
                <a:latin typeface="Noto Sans Symbols"/>
              </a:rPr>
              <a:t>•</a:t>
            </a:r>
            <a:r>
              <a:rPr spc="-58" sz="1050">
                <a:solidFill>
                  <a:srgbClr val="000000"/>
                </a:solidFill>
                <a:latin typeface="Noto Serif"/>
              </a:rPr>
              <a:t> Records with fields like Priority, State,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6980" y="7421880"/>
            <a:ext cx="135000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2" sz="1050">
                <a:solidFill>
                  <a:srgbClr val="000000"/>
                </a:solidFill>
                <a:latin typeface="Noto Serif"/>
              </a:rPr>
              <a:t>Department, Assigned 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7622540"/>
            <a:ext cx="238759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11" sz="1000">
                <a:solidFill>
                  <a:srgbClr val="000000"/>
                </a:solidFill>
                <a:latin typeface="Noto Sans Symbols"/>
              </a:rPr>
              <a:t>•</a:t>
            </a:r>
            <a:r>
              <a:rPr spc="-59" sz="1050">
                <a:solidFill>
                  <a:srgbClr val="000000"/>
                </a:solidFill>
                <a:latin typeface="Noto Serif"/>
              </a:rPr>
              <a:t> Other platforms offering row-level / field-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6980" y="7785100"/>
            <a:ext cx="71120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7" sz="1050">
                <a:solidFill>
                  <a:srgbClr val="000000"/>
                </a:solidFill>
                <a:latin typeface="Noto Serif"/>
              </a:rPr>
              <a:t>level security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95750" y="6695440"/>
            <a:ext cx="135890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9" sz="1050">
                <a:solidFill>
                  <a:srgbClr val="000000"/>
                </a:solidFill>
                <a:latin typeface="Noto Serif"/>
              </a:rPr>
              <a:t>(e.g. answer = true/false)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56050" y="6896100"/>
            <a:ext cx="223139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11" sz="1000">
                <a:solidFill>
                  <a:srgbClr val="000000"/>
                </a:solidFill>
                <a:latin typeface="Noto Sans Symbols"/>
              </a:rPr>
              <a:t>•</a:t>
            </a:r>
            <a:r>
              <a:rPr spc="-60" sz="1050">
                <a:solidFill>
                  <a:srgbClr val="000000"/>
                </a:solidFill>
                <a:latin typeface="Noto Serif"/>
              </a:rPr>
              <a:t> Tests access with different users using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95750" y="7058659"/>
            <a:ext cx="68961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5" sz="1050">
                <a:solidFill>
                  <a:srgbClr val="000000"/>
                </a:solidFill>
                <a:latin typeface="Noto Serif"/>
              </a:rPr>
              <a:t>Impersonate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56050" y="7259320"/>
            <a:ext cx="256667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11" sz="1000">
                <a:solidFill>
                  <a:srgbClr val="000000"/>
                </a:solidFill>
                <a:latin typeface="Noto Sans Symbols"/>
              </a:rPr>
              <a:t>•</a:t>
            </a:r>
            <a:r>
              <a:rPr spc="-61" sz="1050">
                <a:solidFill>
                  <a:srgbClr val="000000"/>
                </a:solidFill>
                <a:latin typeface="Noto Serif"/>
              </a:rPr>
              <a:t> Uses gs.hasRole() and current.field checks in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95750" y="7421880"/>
            <a:ext cx="35178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7" sz="1050">
                <a:solidFill>
                  <a:srgbClr val="000000"/>
                </a:solidFill>
                <a:latin typeface="Noto Serif"/>
              </a:rPr>
              <a:t>scripts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56050" y="7622540"/>
            <a:ext cx="255650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11" sz="1000">
                <a:solidFill>
                  <a:srgbClr val="000000"/>
                </a:solidFill>
                <a:latin typeface="Noto Sans Symbols"/>
              </a:rPr>
              <a:t>•</a:t>
            </a:r>
            <a:r>
              <a:rPr spc="-63" sz="1050">
                <a:solidFill>
                  <a:srgbClr val="000000"/>
                </a:solidFill>
                <a:latin typeface="Noto Serif"/>
              </a:rPr>
              <a:t> Documents and shares access rules with the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95750" y="7785100"/>
            <a:ext cx="28067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7" sz="1050">
                <a:solidFill>
                  <a:srgbClr val="000000"/>
                </a:solidFill>
                <a:latin typeface="Noto Serif"/>
              </a:rPr>
              <a:t>team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36980" y="8874760"/>
            <a:ext cx="65531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0" sz="1050">
                <a:solidFill>
                  <a:srgbClr val="000000"/>
                </a:solidFill>
                <a:latin typeface="Noto Serif"/>
              </a:rPr>
              <a:t>expose data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" y="9075420"/>
            <a:ext cx="248412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11" sz="1000">
                <a:solidFill>
                  <a:srgbClr val="000000"/>
                </a:solidFill>
                <a:latin typeface="Noto Sans Symbols"/>
              </a:rPr>
              <a:t>•</a:t>
            </a:r>
            <a:r>
              <a:rPr spc="-65" sz="1050">
                <a:solidFill>
                  <a:srgbClr val="000000"/>
                </a:solidFill>
                <a:latin typeface="Noto Serif"/>
              </a:rPr>
              <a:t> Multiple ACLs conflict and are hard to trace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" y="9276080"/>
            <a:ext cx="233299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11" sz="1000">
                <a:solidFill>
                  <a:srgbClr val="000000"/>
                </a:solidFill>
                <a:latin typeface="Noto Sans Symbols"/>
              </a:rPr>
              <a:t>•</a:t>
            </a:r>
            <a:r>
              <a:rPr spc="-69" sz="1050">
                <a:solidFill>
                  <a:srgbClr val="000000"/>
                </a:solidFill>
                <a:latin typeface="Noto Serif"/>
              </a:rPr>
              <a:t> Time-consuming testing with many user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36980" y="9438640"/>
            <a:ext cx="26670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3" sz="1050">
                <a:solidFill>
                  <a:srgbClr val="000000"/>
                </a:solidFill>
                <a:latin typeface="Noto Serif"/>
              </a:rPr>
              <a:t>roles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95750" y="8674100"/>
            <a:ext cx="113918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6" sz="1050">
                <a:solidFill>
                  <a:srgbClr val="000000"/>
                </a:solidFill>
                <a:latin typeface="Noto Serif"/>
              </a:rPr>
              <a:t>match the field value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56050" y="8874760"/>
            <a:ext cx="20891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11" sz="1000">
                <a:solidFill>
                  <a:srgbClr val="000000"/>
                </a:solidFill>
                <a:latin typeface="Noto Sans Symbols"/>
              </a:rPr>
              <a:t>•</a:t>
            </a:r>
            <a:r>
              <a:rPr spc="-62" sz="1050">
                <a:solidFill>
                  <a:srgbClr val="000000"/>
                </a:solidFill>
                <a:latin typeface="Noto Serif"/>
              </a:rPr>
              <a:t> Better data security and compliance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56050" y="9075420"/>
            <a:ext cx="229362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11" sz="1000">
                <a:solidFill>
                  <a:srgbClr val="000000"/>
                </a:solidFill>
                <a:latin typeface="Noto Sans Symbols"/>
              </a:rPr>
              <a:t>•</a:t>
            </a:r>
            <a:r>
              <a:rPr spc="-63" sz="1050">
                <a:solidFill>
                  <a:srgbClr val="000000"/>
                </a:solidFill>
                <a:latin typeface="Noto Serif"/>
              </a:rPr>
              <a:t> Flexible, reusable and easy-to-maintain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95750" y="9237980"/>
            <a:ext cx="76453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1" sz="1050">
                <a:solidFill>
                  <a:srgbClr val="000000"/>
                </a:solidFill>
                <a:latin typeface="Noto Serif"/>
              </a:rPr>
              <a:t>access control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56050" y="9438640"/>
            <a:ext cx="237236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11" sz="1000">
                <a:solidFill>
                  <a:srgbClr val="000000"/>
                </a:solidFill>
                <a:latin typeface="Noto Sans Symbols"/>
              </a:rPr>
              <a:t>•</a:t>
            </a:r>
            <a:r>
              <a:rPr spc="-64" sz="1050">
                <a:solidFill>
                  <a:srgbClr val="000000"/>
                </a:solidFill>
                <a:latin typeface="Noto Serif"/>
              </a:rPr>
              <a:t> Fewer access complaints and audit issues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5669" y="9862820"/>
            <a:ext cx="3472179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4" sz="1000">
                <a:solidFill>
                  <a:srgbClr val="1155CC"/>
                </a:solidFill>
                <a:latin typeface="Noto Serif"/>
              </a:rPr>
              <a:t>Reference: https://www.mural.co/templates/empathy-map-canvas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