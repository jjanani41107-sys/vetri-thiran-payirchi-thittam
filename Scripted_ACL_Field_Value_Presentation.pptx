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0692000" cy="755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32250" y="1775460"/>
            <a:ext cx="2627629" cy="355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6" b="1" sz="2800">
                <a:solidFill>
                  <a:srgbClr val="16324F"/>
                </a:solidFill>
                <a:latin typeface="Roboto"/>
              </a:rPr>
              <a:t>SCRIPTED ACL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3840" y="2335530"/>
            <a:ext cx="5124450" cy="254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2000">
                <a:solidFill>
                  <a:srgbClr val="2E6F95"/>
                </a:solidFill>
                <a:latin typeface="Roboto"/>
              </a:rPr>
              <a:t>Restrict Record Access Based on Field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5760" y="3083560"/>
            <a:ext cx="234061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500">
                <a:solidFill>
                  <a:srgbClr val="4B6075"/>
                </a:solidFill>
                <a:latin typeface="Roboto"/>
              </a:rPr>
              <a:t>Presentation / Project Topic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32150" y="3638550"/>
            <a:ext cx="422783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500">
                <a:solidFill>
                  <a:srgbClr val="4B6075"/>
                </a:solidFill>
                <a:latin typeface="Roboto"/>
              </a:rPr>
              <a:t>Access Control List (ACL) • Record-Level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4978400"/>
            <a:ext cx="34163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5B6B78"/>
                </a:solidFill>
                <a:latin typeface="Roboto"/>
              </a:rPr>
              <a:t>Project Development Phase – Model Performance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202946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b="1" sz="2300">
                <a:solidFill>
                  <a:srgbClr val="16324F"/>
                </a:solidFill>
                <a:latin typeface="Roboto"/>
              </a:rP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150620"/>
            <a:ext cx="92202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400">
                <a:solidFill>
                  <a:srgbClr val="243746"/>
                </a:solidFill>
                <a:latin typeface="Roboto"/>
              </a:rPr>
              <a:t>A Scripted ACL is an Access Control List rule that uses a script to decide whether a user can access a record or field.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18920"/>
            <a:ext cx="84594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400">
                <a:solidFill>
                  <a:srgbClr val="243746"/>
                </a:solidFill>
                <a:latin typeface="Roboto"/>
              </a:rPr>
              <a:t>The script can evaluate a field value and allow or deny access according to the required business condition.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114550"/>
            <a:ext cx="94106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b="1" sz="1800">
                <a:solidFill>
                  <a:srgbClr val="2E6F95"/>
                </a:solidFill>
                <a:latin typeface="Roboto"/>
              </a:rPr>
              <a:t>Key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598420"/>
            <a:ext cx="6314440" cy="179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1" sz="1400">
                <a:solidFill>
                  <a:srgbClr val="243746"/>
                </a:solidFill>
                <a:latin typeface="Roboto"/>
              </a:rPr>
              <a:t>User </a:t>
            </a:r>
            <a:r>
              <a:rPr spc="-2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45" sz="1400">
                <a:solidFill>
                  <a:srgbClr val="243746"/>
                </a:solidFill>
                <a:latin typeface="Roboto"/>
              </a:rPr>
              <a:t> ACL </a:t>
            </a:r>
            <a:r>
              <a:rPr spc="-2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10" sz="1400">
                <a:solidFill>
                  <a:srgbClr val="243746"/>
                </a:solidFill>
                <a:latin typeface="Roboto"/>
              </a:rPr>
              <a:t> Check field value </a:t>
            </a:r>
            <a:r>
              <a:rPr spc="-2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-3" sz="1400">
                <a:solidFill>
                  <a:srgbClr val="243746"/>
                </a:solidFill>
                <a:latin typeface="Roboto"/>
              </a:rPr>
              <a:t> Condition satisfied? </a:t>
            </a:r>
            <a:r>
              <a:rPr spc="-2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-1" sz="1400">
                <a:solidFill>
                  <a:srgbClr val="243746"/>
                </a:solidFill>
                <a:latin typeface="Roboto"/>
              </a:rPr>
              <a:t> Allow / Deny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163957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b="1" sz="2300">
                <a:solidFill>
                  <a:srgbClr val="16324F"/>
                </a:solidFill>
                <a:latin typeface="Roboto"/>
              </a:rPr>
              <a:t>2.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150620"/>
            <a:ext cx="7797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400">
                <a:solidFill>
                  <a:srgbClr val="243746"/>
                </a:solidFill>
                <a:latin typeface="Roboto"/>
              </a:rPr>
              <a:t>The objective is to restrict record access when a specific field does not meet the required condition.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18920"/>
            <a:ext cx="18783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400">
                <a:solidFill>
                  <a:srgbClr val="243746"/>
                </a:solidFill>
                <a:latin typeface="Roboto"/>
              </a:rPr>
              <a:t>Examples of conditions: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1887220"/>
            <a:ext cx="552704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400">
                <a:solidFill>
                  <a:srgbClr val="243746"/>
                </a:solidFill>
                <a:latin typeface="Roboto"/>
              </a:rPr>
              <a:t>• Allow access only when the record belongs to the user’s department.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42820"/>
            <a:ext cx="49352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400">
                <a:solidFill>
                  <a:srgbClr val="243746"/>
                </a:solidFill>
                <a:latin typeface="Roboto"/>
              </a:rPr>
              <a:t>• Allow access only when a status field has an approved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598420"/>
            <a:ext cx="52209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400">
                <a:solidFill>
                  <a:srgbClr val="243746"/>
                </a:solidFill>
                <a:latin typeface="Roboto"/>
              </a:rPr>
              <a:t>• Restrict access when a sensitive field contains a restricted value.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954020"/>
            <a:ext cx="40652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400">
                <a:solidFill>
                  <a:srgbClr val="243746"/>
                </a:solidFill>
                <a:latin typeface="Roboto"/>
              </a:rPr>
              <a:t>• Apply different access rules based on record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292100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8" b="1" sz="2300">
                <a:solidFill>
                  <a:srgbClr val="16324F"/>
                </a:solidFill>
                <a:latin typeface="Roboto"/>
              </a:rPr>
              <a:t>3. ACL Working Flow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35990" y="1111250"/>
          <a:ext cx="8820149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429"/>
                <a:gridCol w="7919720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97790" algn="l">
                        <a:lnSpc>
                          <a:spcPts val="1200"/>
                        </a:lnSpc>
                      </a:pPr>
                      <a:r>
                        <a:rPr spc="46" b="1" sz="1200">
                          <a:solidFill>
                            <a:srgbClr val="FFFFFF"/>
                          </a:solidFill>
                          <a:latin typeface="Roboto"/>
                        </a:rPr>
                        <a:t>Step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99060" algn="l">
                        <a:lnSpc>
                          <a:spcPts val="1200"/>
                        </a:lnSpc>
                      </a:pPr>
                      <a:r>
                        <a:rPr spc="45" b="1" sz="1200">
                          <a:solidFill>
                            <a:srgbClr val="FFFFFF"/>
                          </a:solidFill>
                          <a:latin typeface="Roboto"/>
                        </a:rPr>
                        <a:t>Process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77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9060" algn="l">
                        <a:lnSpc>
                          <a:spcPts val="1200"/>
                        </a:lnSpc>
                      </a:pPr>
                      <a:r>
                        <a:rPr spc="-1" sz="1200">
                          <a:solidFill>
                            <a:srgbClr val="000000"/>
                          </a:solidFill>
                          <a:latin typeface="Roboto"/>
                        </a:rPr>
                        <a:t>User requests a record or protected field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77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9060" algn="l">
                        <a:lnSpc>
                          <a:spcPts val="1200"/>
                        </a:lnSpc>
                      </a:pPr>
                      <a:r>
                        <a:rPr spc="0" sz="1200">
                          <a:solidFill>
                            <a:srgbClr val="000000"/>
                          </a:solidFill>
                          <a:latin typeface="Roboto"/>
                        </a:rPr>
                        <a:t>Platform evaluates the applicable ACL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77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9060" algn="l">
                        <a:lnSpc>
                          <a:spcPts val="1200"/>
                        </a:lnSpc>
                      </a:pPr>
                      <a:r>
                        <a:rPr spc="2" sz="1200">
                          <a:solidFill>
                            <a:srgbClr val="000000"/>
                          </a:solidFill>
                          <a:latin typeface="Roboto"/>
                        </a:rPr>
                        <a:t>ACL script reads the required 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77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9060" algn="l">
                        <a:lnSpc>
                          <a:spcPts val="1200"/>
                        </a:lnSpc>
                      </a:pPr>
                      <a:r>
                        <a:rPr spc="-1" sz="1200">
                          <a:solidFill>
                            <a:srgbClr val="000000"/>
                          </a:solidFill>
                          <a:latin typeface="Roboto"/>
                        </a:rPr>
                        <a:t>Condition is evaluated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7790" algn="l">
                        <a:lnSpc>
                          <a:spcPts val="1200"/>
                        </a:lnSpc>
                      </a:pPr>
                      <a:r>
                        <a:rPr spc="-5" sz="1200">
                          <a:solidFill>
                            <a:srgbClr val="000000"/>
                          </a:solidFill>
                          <a:latin typeface="Roboto"/>
                        </a:rPr>
                        <a:t>5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30"/>
                        </a:lnSpc>
                      </a:pPr>
                    </a:p>
                    <a:p>
                      <a:pPr marL="99060" algn="l">
                        <a:lnSpc>
                          <a:spcPts val="1200"/>
                        </a:lnSpc>
                      </a:pPr>
                      <a:r>
                        <a:rPr spc="-4" sz="1200">
                          <a:solidFill>
                            <a:srgbClr val="000000"/>
                          </a:solidFill>
                          <a:latin typeface="Roboto"/>
                        </a:rPr>
                        <a:t>Access is allowed when the condition is satisfied; otherwise access is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3900" y="3647440"/>
            <a:ext cx="551434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400">
                <a:solidFill>
                  <a:srgbClr val="243746"/>
                </a:solidFill>
                <a:latin typeface="Roboto"/>
              </a:rPr>
              <a:t>This approach makes access depend on the data stored in the record.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284099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b="1" sz="2300">
                <a:solidFill>
                  <a:srgbClr val="16324F"/>
                </a:solidFill>
                <a:latin typeface="Roboto"/>
              </a:rPr>
              <a:t>4. Example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150620"/>
            <a:ext cx="613790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400">
                <a:solidFill>
                  <a:srgbClr val="243746"/>
                </a:solidFill>
                <a:latin typeface="Roboto"/>
              </a:rPr>
              <a:t>Scenario: Restrict access to records based on a field named </a:t>
            </a:r>
            <a:r>
              <a:rPr spc="64" b="1" sz="1400">
                <a:solidFill>
                  <a:srgbClr val="243746"/>
                </a:solidFill>
                <a:latin typeface="Roboto"/>
              </a:rPr>
              <a:t>u_access_level</a:t>
            </a:r>
            <a:r>
              <a:rPr spc="20" sz="1400">
                <a:solidFill>
                  <a:srgbClr val="243746"/>
                </a:solidFill>
                <a:latin typeface="Robot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18920"/>
            <a:ext cx="80835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400">
                <a:solidFill>
                  <a:srgbClr val="243746"/>
                </a:solidFill>
                <a:latin typeface="Roboto"/>
              </a:rPr>
              <a:t>Business rule: Only records whose access level is </a:t>
            </a:r>
            <a:r>
              <a:rPr spc="43" b="1" sz="1400">
                <a:solidFill>
                  <a:srgbClr val="243746"/>
                </a:solidFill>
                <a:latin typeface="Roboto"/>
              </a:rPr>
              <a:t>Internal</a:t>
            </a:r>
            <a:r>
              <a:rPr spc="0" sz="1400">
                <a:solidFill>
                  <a:srgbClr val="243746"/>
                </a:solidFill>
                <a:latin typeface="Roboto"/>
              </a:rPr>
              <a:t> should be accessible to the intended users.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142490"/>
            <a:ext cx="18580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400">
                <a:solidFill>
                  <a:srgbClr val="243746"/>
                </a:solidFill>
                <a:latin typeface="Roboto"/>
              </a:rPr>
              <a:t>Example record values: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95400" y="2472690"/>
          <a:ext cx="8100058" cy="1422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1200"/>
                <a:gridCol w="2519679"/>
                <a:gridCol w="3599179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61" b="1" sz="1200">
                          <a:solidFill>
                            <a:srgbClr val="FFFFFF"/>
                          </a:solidFill>
                          <a:latin typeface="Roboto"/>
                        </a:rPr>
                        <a:t>Record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2d6e9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54" b="1" sz="1200">
                          <a:solidFill>
                            <a:srgbClr val="FFFFFF"/>
                          </a:solidFill>
                          <a:latin typeface="Roboto"/>
                        </a:rPr>
                        <a:t>u_access_level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2d6e9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5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46" b="1" sz="1200">
                          <a:solidFill>
                            <a:srgbClr val="FFFFFF"/>
                          </a:solidFill>
                          <a:latin typeface="Roboto"/>
                        </a:rPr>
                        <a:t>Expected result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2d6e95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3" sz="1200">
                          <a:solidFill>
                            <a:srgbClr val="000000"/>
                          </a:solidFill>
                          <a:latin typeface="Roboto"/>
                        </a:rPr>
                        <a:t>INC001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4" sz="1200">
                          <a:solidFill>
                            <a:srgbClr val="000000"/>
                          </a:solidFill>
                          <a:latin typeface="Roboto"/>
                        </a:rPr>
                        <a:t>Internal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6" sz="1200">
                          <a:solidFill>
                            <a:srgbClr val="000000"/>
                          </a:solidFill>
                          <a:latin typeface="Roboto"/>
                        </a:rPr>
                        <a:t>Access allowed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3" sz="1200">
                          <a:solidFill>
                            <a:srgbClr val="000000"/>
                          </a:solidFill>
                          <a:latin typeface="Roboto"/>
                        </a:rPr>
                        <a:t>INC002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2" sz="1200">
                          <a:solidFill>
                            <a:srgbClr val="000000"/>
                          </a:solidFill>
                          <a:latin typeface="Roboto"/>
                        </a:rPr>
                        <a:t>Restricted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0" sz="1200">
                          <a:solidFill>
                            <a:srgbClr val="000000"/>
                          </a:solidFill>
                          <a:latin typeface="Roboto"/>
                        </a:rPr>
                        <a:t>Access 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13" sz="1200">
                          <a:solidFill>
                            <a:srgbClr val="000000"/>
                          </a:solidFill>
                          <a:latin typeface="Roboto"/>
                        </a:rPr>
                        <a:t>INC003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4" sz="1200">
                          <a:solidFill>
                            <a:srgbClr val="000000"/>
                          </a:solidFill>
                          <a:latin typeface="Roboto"/>
                        </a:rPr>
                        <a:t>Internal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40"/>
                        </a:lnSpc>
                      </a:pPr>
                    </a:p>
                    <a:p>
                      <a:pPr marL="73660" algn="l">
                        <a:lnSpc>
                          <a:spcPts val="1200"/>
                        </a:lnSpc>
                      </a:pPr>
                      <a:r>
                        <a:rPr spc="-6" sz="1200">
                          <a:solidFill>
                            <a:srgbClr val="000000"/>
                          </a:solidFill>
                          <a:latin typeface="Roboto"/>
                        </a:rPr>
                        <a:t>Access allowed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" y="1352550"/>
            <a:ext cx="904113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3900" y="680720"/>
            <a:ext cx="3815079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b="1" sz="2300">
                <a:solidFill>
                  <a:srgbClr val="16324F"/>
                </a:solidFill>
                <a:latin typeface="Roboto"/>
              </a:rPr>
              <a:t>5. Sample ACL Script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150620"/>
            <a:ext cx="79070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400">
                <a:solidFill>
                  <a:srgbClr val="243746"/>
                </a:solidFill>
                <a:latin typeface="Roboto"/>
              </a:rPr>
              <a:t>The following illustrates the core condition. Adapt the field and value names to the actual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1518920"/>
            <a:ext cx="4389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9" sz="1200">
                <a:solidFill>
                  <a:srgbClr val="1E2A35"/>
                </a:solidFill>
                <a:latin typeface="Roboto"/>
              </a:rPr>
              <a:t>answer = (current.u_access_level == "Internal");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1991360"/>
            <a:ext cx="5334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4" b="1" sz="1400">
                <a:solidFill>
                  <a:srgbClr val="243746"/>
                </a:solidFill>
                <a:latin typeface="Roboto"/>
              </a:rPr>
              <a:t>Logic: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358390"/>
            <a:ext cx="35699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400">
                <a:solidFill>
                  <a:srgbClr val="243746"/>
                </a:solidFill>
                <a:latin typeface="Roboto"/>
              </a:rPr>
              <a:t>• Read the current record’s access-level field.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713990"/>
            <a:ext cx="39662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400">
                <a:solidFill>
                  <a:srgbClr val="243746"/>
                </a:solidFill>
                <a:latin typeface="Roboto"/>
              </a:rPr>
              <a:t>• Compare the field value with the permitted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3069590"/>
            <a:ext cx="34620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400">
                <a:solidFill>
                  <a:srgbClr val="243746"/>
                </a:solidFill>
                <a:latin typeface="Roboto"/>
              </a:rPr>
              <a:t>• Return true when the condition is satisfied.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425190"/>
            <a:ext cx="382777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400">
                <a:solidFill>
                  <a:srgbClr val="243746"/>
                </a:solidFill>
                <a:latin typeface="Roboto"/>
              </a:rPr>
              <a:t>• Return false when the condition is not satisfied.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3992879"/>
            <a:ext cx="68262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5B6B78"/>
                </a:solidFill>
                <a:latin typeface="Roboto"/>
              </a:rPr>
              <a:t>Note: The exact ACL configuration depends on the platform, table, operation, roles, and security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292100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0" b="1" sz="2300">
                <a:solidFill>
                  <a:srgbClr val="16324F"/>
                </a:solidFill>
                <a:latin typeface="Roboto"/>
              </a:rPr>
              <a:t>6. ACL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150620"/>
            <a:ext cx="22034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1400">
                <a:solidFill>
                  <a:srgbClr val="243746"/>
                </a:solidFill>
                <a:latin typeface="Roboto"/>
              </a:rPr>
              <a:t>Typical configuration points: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1518920"/>
            <a:ext cx="50241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400">
                <a:solidFill>
                  <a:srgbClr val="243746"/>
                </a:solidFill>
                <a:latin typeface="Roboto"/>
              </a:rPr>
              <a:t>• Table: Select the target table containing the protected records.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1874520"/>
            <a:ext cx="63677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400">
                <a:solidFill>
                  <a:srgbClr val="243746"/>
                </a:solidFill>
                <a:latin typeface="Roboto"/>
              </a:rPr>
              <a:t>• Operation: Choose the required operation such as read, write, create, or delete.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30120"/>
            <a:ext cx="42037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400">
                <a:solidFill>
                  <a:srgbClr val="243746"/>
                </a:solidFill>
                <a:latin typeface="Roboto"/>
              </a:rPr>
              <a:t>• Type: Configure the appropriate record or field ACL.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585720"/>
            <a:ext cx="55473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400">
                <a:solidFill>
                  <a:srgbClr val="243746"/>
                </a:solidFill>
                <a:latin typeface="Roboto"/>
              </a:rPr>
              <a:t>• Conditions: Use conditions where suitable before relying on scripting.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941320"/>
            <a:ext cx="340232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400">
                <a:solidFill>
                  <a:srgbClr val="243746"/>
                </a:solidFill>
                <a:latin typeface="Roboto"/>
              </a:rPr>
              <a:t>• Script: Add the field-value validation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5500" y="3296920"/>
            <a:ext cx="58242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400">
                <a:solidFill>
                  <a:srgbClr val="243746"/>
                </a:solidFill>
                <a:latin typeface="Roboto"/>
              </a:rPr>
              <a:t>• Roles: Define role requirements when role-based access is also needed.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313309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3" b="1" sz="2300">
                <a:solidFill>
                  <a:srgbClr val="16324F"/>
                </a:solidFill>
                <a:latin typeface="Roboto"/>
              </a:rPr>
              <a:t>7.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150620"/>
            <a:ext cx="67894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400">
                <a:solidFill>
                  <a:srgbClr val="243746"/>
                </a:solidFill>
                <a:latin typeface="Roboto"/>
              </a:rPr>
              <a:t>Test both permitted and restricted records to verify that the ACL behaves as expected.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295400" y="1479550"/>
          <a:ext cx="8100059" cy="165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0520"/>
                <a:gridCol w="2700020"/>
                <a:gridCol w="3779519"/>
              </a:tblGrid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29" b="1" sz="1150">
                          <a:solidFill>
                            <a:srgbClr val="FFFFFF"/>
                          </a:solidFill>
                          <a:latin typeface="Roboto"/>
                        </a:rPr>
                        <a:t>Test case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45" b="1" sz="1150">
                          <a:solidFill>
                            <a:srgbClr val="FFFFFF"/>
                          </a:solidFill>
                          <a:latin typeface="Roboto"/>
                        </a:rPr>
                        <a:t>Field value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42" b="1" sz="1150">
                          <a:solidFill>
                            <a:srgbClr val="FFFFFF"/>
                          </a:solidFill>
                          <a:latin typeface="Roboto"/>
                        </a:rPr>
                        <a:t>Expected access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16314f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23" sz="1150">
                          <a:solidFill>
                            <a:srgbClr val="000000"/>
                          </a:solidFill>
                          <a:latin typeface="Roboto"/>
                        </a:rPr>
                        <a:t>TC01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-3" sz="1150">
                          <a:solidFill>
                            <a:srgbClr val="000000"/>
                          </a:solidFill>
                          <a:latin typeface="Roboto"/>
                        </a:rPr>
                        <a:t>Internal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-9" sz="1150">
                          <a:solidFill>
                            <a:srgbClr val="000000"/>
                          </a:solidFill>
                          <a:latin typeface="Roboto"/>
                        </a:rPr>
                        <a:t>Allowed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23" sz="1150">
                          <a:solidFill>
                            <a:srgbClr val="000000"/>
                          </a:solidFill>
                          <a:latin typeface="Roboto"/>
                        </a:rPr>
                        <a:t>TC02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-2" sz="1150">
                          <a:solidFill>
                            <a:srgbClr val="000000"/>
                          </a:solidFill>
                          <a:latin typeface="Roboto"/>
                        </a:rPr>
                        <a:t>Restricted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17" sz="1150">
                          <a:solidFill>
                            <a:srgbClr val="000000"/>
                          </a:solidFill>
                          <a:latin typeface="Roboto"/>
                        </a:rPr>
                        <a:t>Denied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23" sz="1150">
                          <a:solidFill>
                            <a:srgbClr val="000000"/>
                          </a:solidFill>
                          <a:latin typeface="Roboto"/>
                        </a:rPr>
                        <a:t>TC03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-3" sz="1150">
                          <a:solidFill>
                            <a:srgbClr val="000000"/>
                          </a:solidFill>
                          <a:latin typeface="Roboto"/>
                        </a:rPr>
                        <a:t>Blank / unexpected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7" sz="1150">
                          <a:solidFill>
                            <a:srgbClr val="000000"/>
                          </a:solidFill>
                          <a:latin typeface="Roboto"/>
                        </a:rPr>
                        <a:t>Denied or handled by defined rule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23" sz="1150">
                          <a:solidFill>
                            <a:srgbClr val="000000"/>
                          </a:solidFill>
                          <a:latin typeface="Roboto"/>
                        </a:rPr>
                        <a:t>TC04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0" sz="1150">
                          <a:solidFill>
                            <a:srgbClr val="000000"/>
                          </a:solidFill>
                          <a:latin typeface="Roboto"/>
                        </a:rPr>
                        <a:t>User without required role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919"/>
                        </a:lnSpc>
                      </a:pPr>
                    </a:p>
                    <a:p>
                      <a:pPr marL="73660" algn="l">
                        <a:lnSpc>
                          <a:spcPts val="1150"/>
                        </a:lnSpc>
                      </a:pPr>
                      <a:r>
                        <a:rPr spc="-4" sz="1150">
                          <a:solidFill>
                            <a:srgbClr val="000000"/>
                          </a:solidFill>
                          <a:latin typeface="Roboto"/>
                        </a:rPr>
                        <a:t>Denied if role restriction applies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23900" y="3453129"/>
            <a:ext cx="54038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5B6B78"/>
                </a:solidFill>
                <a:latin typeface="Roboto"/>
              </a:rPr>
              <a:t>Record the screenshots / values and results in the model performance testing template.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368554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8" b="1" sz="2300">
                <a:solidFill>
                  <a:srgbClr val="16324F"/>
                </a:solidFill>
                <a:latin typeface="Roboto"/>
              </a:rPr>
              <a:t>8. Security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5500" y="1150620"/>
            <a:ext cx="529971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400">
                <a:solidFill>
                  <a:srgbClr val="243746"/>
                </a:solidFill>
                <a:latin typeface="Roboto"/>
              </a:rPr>
              <a:t>• Use ACLs to enforce access at the appropriate security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" y="1506220"/>
            <a:ext cx="523113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400">
                <a:solidFill>
                  <a:srgbClr val="243746"/>
                </a:solidFill>
                <a:latin typeface="Roboto"/>
              </a:rPr>
              <a:t>• Avoid exposing sensitive records through alternate access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1861820"/>
            <a:ext cx="440055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400">
                <a:solidFill>
                  <a:srgbClr val="243746"/>
                </a:solidFill>
                <a:latin typeface="Roboto"/>
              </a:rPr>
              <a:t>• Test with users having different roles and permissions.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17420"/>
            <a:ext cx="577469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400">
                <a:solidFill>
                  <a:srgbClr val="243746"/>
                </a:solidFill>
                <a:latin typeface="Roboto"/>
              </a:rPr>
              <a:t>• Handle blank, null, and unexpected field values explicitly when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500" y="2573020"/>
            <a:ext cx="331342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400">
                <a:solidFill>
                  <a:srgbClr val="243746"/>
                </a:solidFill>
                <a:latin typeface="Roboto"/>
              </a:rPr>
              <a:t>• Keep the script simple and maintainable.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00" y="2928620"/>
            <a:ext cx="36398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400">
                <a:solidFill>
                  <a:srgbClr val="243746"/>
                </a:solidFill>
                <a:latin typeface="Roboto"/>
              </a:rPr>
              <a:t>• Validate the rule after configuration changes.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7280" y="7228840"/>
            <a:ext cx="57150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800">
                <a:solidFill>
                  <a:srgbClr val="71808D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499999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0" b="1" sz="2300">
                <a:solidFill>
                  <a:srgbClr val="16324F"/>
                </a:solidFill>
                <a:latin typeface="Roboto"/>
              </a:rPr>
              <a:t>9. Model Performance Test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150620"/>
            <a:ext cx="88950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400">
                <a:solidFill>
                  <a:srgbClr val="243746"/>
                </a:solidFill>
                <a:latin typeface="Roboto"/>
              </a:rPr>
              <a:t>The uploaded project template asks the project team to document model performance testing with data rendered,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417320"/>
            <a:ext cx="61772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400">
                <a:solidFill>
                  <a:srgbClr val="243746"/>
                </a:solidFill>
                <a:latin typeface="Roboto"/>
              </a:rPr>
              <a:t>preprocessing, data filters, DAX queries, dashboard design, and report design.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35990" y="1746250"/>
          <a:ext cx="882015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680"/>
                <a:gridCol w="6300470"/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26" b="1" sz="1050">
                          <a:solidFill>
                            <a:srgbClr val="FFFFFF"/>
                          </a:solidFill>
                          <a:latin typeface="Roboto"/>
                        </a:rPr>
                        <a:t>Template parameter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2d6e9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1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34" b="1" sz="1050">
                          <a:solidFill>
                            <a:srgbClr val="FFFFFF"/>
                          </a:solidFill>
                          <a:latin typeface="Roboto"/>
                        </a:rPr>
                        <a:t>Suggested entry for this presentation/project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2d6e95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9" sz="1050">
                          <a:solidFill>
                            <a:srgbClr val="000000"/>
                          </a:solidFill>
                          <a:latin typeface="Roboto"/>
                        </a:rPr>
                        <a:t>Data Rendered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000000"/>
                          </a:solidFill>
                          <a:latin typeface="Roboto"/>
                        </a:rPr>
                        <a:t>Show sample secured records / screenshots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2" sz="1050">
                          <a:solidFill>
                            <a:srgbClr val="000000"/>
                          </a:solidFill>
                          <a:latin typeface="Roboto"/>
                        </a:rPr>
                        <a:t>Data Preprocessing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1" sz="1050">
                          <a:solidFill>
                            <a:srgbClr val="000000"/>
                          </a:solidFill>
                          <a:latin typeface="Roboto"/>
                        </a:rPr>
                        <a:t>Describe required field preparation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4" sz="1050">
                          <a:solidFill>
                            <a:srgbClr val="000000"/>
                          </a:solidFill>
                          <a:latin typeface="Roboto"/>
                        </a:rPr>
                        <a:t>Utilization of Data Filters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7" sz="1050">
                          <a:solidFill>
                            <a:srgbClr val="000000"/>
                          </a:solidFill>
                          <a:latin typeface="Roboto"/>
                        </a:rPr>
                        <a:t>Document filters used in testing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23" sz="1050">
                          <a:solidFill>
                            <a:srgbClr val="000000"/>
                          </a:solidFill>
                          <a:latin typeface="Roboto"/>
                        </a:rPr>
                        <a:t>DAX Queries Used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5" sz="1050">
                          <a:solidFill>
                            <a:srgbClr val="000000"/>
                          </a:solidFill>
                          <a:latin typeface="Roboto"/>
                        </a:rPr>
                        <a:t>Enter only the DAX queries actually used in the project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8" sz="1050">
                          <a:solidFill>
                            <a:srgbClr val="000000"/>
                          </a:solidFill>
                          <a:latin typeface="Roboto"/>
                        </a:rPr>
                        <a:t>Dashboard Design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5" sz="1050">
                          <a:solidFill>
                            <a:srgbClr val="000000"/>
                          </a:solidFill>
                          <a:latin typeface="Roboto"/>
                        </a:rPr>
                        <a:t>Enter actual number of visualizations / graphs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11" sz="1050">
                          <a:solidFill>
                            <a:srgbClr val="000000"/>
                          </a:solidFill>
                          <a:latin typeface="Roboto"/>
                        </a:rPr>
                        <a:t>Report Design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800"/>
                        </a:lnSpc>
                      </a:pPr>
                    </a:p>
                    <a:p>
                      <a:pPr marL="72390" algn="l">
                        <a:lnSpc>
                          <a:spcPts val="1050"/>
                        </a:lnSpc>
                      </a:pPr>
                      <a:r>
                        <a:rPr spc="-5" sz="1050">
                          <a:solidFill>
                            <a:srgbClr val="000000"/>
                          </a:solidFill>
                          <a:latin typeface="Roboto"/>
                        </a:rPr>
                        <a:t>Enter actual number of visualizations / graphs</a:t>
                      </a: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b8c3cd">
                          <a:alpha val="100000"/>
                        </a:srgbClr>
                      </a:solidFill>
                    </a:lnL>
                    <a:lnR w="3175" cap="flat" cmpd="sng" algn="ctr">
                      <a:solidFill>
                        <a:srgbClr val="b8c3cd">
                          <a:alpha val="100000"/>
                        </a:srgbClr>
                      </a:solidFill>
                    </a:lnR>
                    <a:lnT w="3175" cap="flat" cmpd="sng" algn="ctr">
                      <a:solidFill>
                        <a:srgbClr val="b8c3cd">
                          <a:alpha val="100000"/>
                        </a:srgbClr>
                      </a:solidFill>
                    </a:lnT>
                    <a:lnB w="3175" cap="flat" cmpd="sng" algn="ctr">
                      <a:solidFill>
                        <a:srgbClr val="b8c3cd">
                          <a:alpha val="100000"/>
                        </a:srgbClr>
                      </a:solidFill>
                    </a:lnB>
                    <a:solidFill>
                      <a:srgbClr val="f4f6f9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23900" y="4131310"/>
            <a:ext cx="42240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5B6B78"/>
                </a:solidFill>
                <a:latin typeface="Roboto"/>
              </a:rPr>
              <a:t>The template specifically lists these six testing/reporting parameters.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31400" y="7228840"/>
            <a:ext cx="11302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800">
                <a:solidFill>
                  <a:srgbClr val="71808D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346710"/>
            <a:ext cx="9396730" cy="25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680720"/>
            <a:ext cx="2077720" cy="2920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b="1" sz="2300">
                <a:solidFill>
                  <a:srgbClr val="16324F"/>
                </a:solidFill>
                <a:latin typeface="Roboto"/>
              </a:rPr>
              <a:t>10.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3900" y="1150620"/>
            <a:ext cx="733298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400">
                <a:solidFill>
                  <a:srgbClr val="243746"/>
                </a:solidFill>
                <a:latin typeface="Roboto"/>
              </a:rPr>
              <a:t>A Scripted ACL can evaluate a record’s field value and enforce a rule-based access decision.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1518920"/>
            <a:ext cx="8001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1400">
                <a:solidFill>
                  <a:srgbClr val="243746"/>
                </a:solidFill>
                <a:latin typeface="Roboto"/>
              </a:rPr>
              <a:t>Main flow: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5500" y="1887220"/>
            <a:ext cx="8865870" cy="1790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400">
                <a:solidFill>
                  <a:srgbClr val="243746"/>
                </a:solidFill>
                <a:latin typeface="Roboto"/>
              </a:rPr>
              <a:t>Identify the protected data </a:t>
            </a:r>
            <a:r>
              <a:rPr spc="-2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1" sz="1400">
                <a:solidFill>
                  <a:srgbClr val="243746"/>
                </a:solidFill>
                <a:latin typeface="Roboto"/>
              </a:rPr>
              <a:t> configure the correct ACL </a:t>
            </a:r>
            <a:r>
              <a:rPr spc="-2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2" sz="1400">
                <a:solidFill>
                  <a:srgbClr val="243746"/>
                </a:solidFill>
                <a:latin typeface="Roboto"/>
              </a:rPr>
              <a:t> validate the field value </a:t>
            </a:r>
            <a:r>
              <a:rPr spc="8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3" sz="1400">
                <a:solidFill>
                  <a:srgbClr val="243746"/>
                </a:solidFill>
                <a:latin typeface="Roboto"/>
              </a:rPr>
              <a:t> allow or deny access </a:t>
            </a:r>
            <a:r>
              <a:rPr spc="-2" sz="1400">
                <a:solidFill>
                  <a:srgbClr val="243746"/>
                </a:solidFill>
                <a:latin typeface="Noto Sans Symbols"/>
              </a:rPr>
              <a:t>→</a:t>
            </a:r>
            <a:r>
              <a:rPr spc="-16" sz="1400">
                <a:solidFill>
                  <a:srgbClr val="243746"/>
                </a:solidFill>
                <a:latin typeface="Roboto"/>
              </a:rPr>
              <a:t>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2153920"/>
            <a:ext cx="1837689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400">
                <a:solidFill>
                  <a:srgbClr val="243746"/>
                </a:solidFill>
                <a:latin typeface="Roboto"/>
              </a:rPr>
              <a:t>with multiple scenarios.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66920" y="2898140"/>
            <a:ext cx="1558289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4" b="1" sz="2400">
                <a:solidFill>
                  <a:srgbClr val="2E6F95"/>
                </a:solidFill>
                <a:latin typeface="Roboto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7228840"/>
            <a:ext cx="276097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800">
                <a:solidFill>
                  <a:srgbClr val="71808D"/>
                </a:solidFill>
                <a:latin typeface="Roboto"/>
              </a:rPr>
              <a:t>Scripted ACL – Restrict Record Access Based on Field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31400" y="7228840"/>
            <a:ext cx="113029" cy="101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800">
                <a:solidFill>
                  <a:srgbClr val="71808D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