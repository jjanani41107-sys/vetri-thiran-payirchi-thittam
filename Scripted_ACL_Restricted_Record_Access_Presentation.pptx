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71290" y="1814830"/>
            <a:ext cx="274955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02" b="1" sz="2700">
                <a:solidFill>
                  <a:srgbClr val="16324F"/>
                </a:solidFill>
                <a:latin typeface="Roboto"/>
              </a:rPr>
              <a:t>SCRIPTED 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0650" y="2345690"/>
            <a:ext cx="537083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1" sz="1800">
                <a:solidFill>
                  <a:srgbClr val="1D5D7A"/>
                </a:solidFill>
                <a:latin typeface="Roboto"/>
              </a:rPr>
              <a:t>Restricted Record Access Based on Field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7629" y="2998470"/>
            <a:ext cx="28968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1400">
                <a:solidFill>
                  <a:srgbClr val="3E5C76"/>
                </a:solidFill>
                <a:latin typeface="Roboto"/>
              </a:rPr>
              <a:t>ServiceNow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2380" y="4318000"/>
            <a:ext cx="81686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1200">
                <a:solidFill>
                  <a:srgbClr val="243746"/>
                </a:solidFill>
                <a:latin typeface="Roboto"/>
              </a:rPr>
              <a:t>Project Focus: Control record visibility and access using an Access Control rule with a field-value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294513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7" b="1" sz="2100">
                <a:solidFill>
                  <a:srgbClr val="16324F"/>
                </a:solidFill>
                <a:latin typeface="Roboto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059180"/>
            <a:ext cx="92621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sz="1100">
                <a:solidFill>
                  <a:srgbClr val="243746"/>
                </a:solidFill>
                <a:latin typeface="Roboto"/>
              </a:rPr>
              <a:t>The project demonstrates how a ServiceNow application can restrict access to records according to the value stored in a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262380"/>
            <a:ext cx="64058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1100">
                <a:solidFill>
                  <a:srgbClr val="243746"/>
                </a:solidFill>
                <a:latin typeface="Roboto"/>
              </a:rPr>
              <a:t>field. A scripted ACL can evaluate the current user and the record before allowing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80" y="1554480"/>
            <a:ext cx="1659889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sz="1100">
                <a:solidFill>
                  <a:srgbClr val="243746"/>
                </a:solidFill>
                <a:latin typeface="Roboto"/>
              </a:rPr>
              <a:t>• Platform: ServiceNow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80" y="1833880"/>
            <a:ext cx="34531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sz="1100">
                <a:solidFill>
                  <a:srgbClr val="243746"/>
                </a:solidFill>
                <a:latin typeface="Roboto"/>
              </a:rPr>
              <a:t>• Security mechanism: Access Control List (ACL)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0" y="2113280"/>
            <a:ext cx="39662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sz="1100">
                <a:solidFill>
                  <a:srgbClr val="243746"/>
                </a:solidFill>
                <a:latin typeface="Roboto"/>
              </a:rPr>
              <a:t>• Control type: Scripted ACL / conditional record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80" y="2392680"/>
            <a:ext cx="505587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1100">
                <a:solidFill>
                  <a:srgbClr val="243746"/>
                </a:solidFill>
                <a:latin typeface="Roboto"/>
              </a:rPr>
              <a:t>• Decision: Allow or deny access based on field value and user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980" y="2672080"/>
            <a:ext cx="57391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Goal: Prevent unauthorized users from viewing or modifying restricted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3188970"/>
            <a:ext cx="92113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50">
                <a:solidFill>
                  <a:srgbClr val="243746"/>
                </a:solidFill>
                <a:latin typeface="Roboto"/>
              </a:rPr>
              <a:t>Presentation structure follows the uploaded testing template's scenario-oriented approach: test case, test steps, expected result and pass/fail outcome.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330708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5" b="1" sz="2100">
                <a:solidFill>
                  <a:srgbClr val="16324F"/>
                </a:solidFill>
                <a:latin typeface="Roboto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059180"/>
            <a:ext cx="91935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1100">
                <a:solidFill>
                  <a:srgbClr val="243746"/>
                </a:solidFill>
                <a:latin typeface="Roboto"/>
              </a:rPr>
              <a:t>In a shared ServiceNow table, different records may require different levels of access. Giving every authenticated user access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262380"/>
            <a:ext cx="56426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sz="1100">
                <a:solidFill>
                  <a:srgbClr val="243746"/>
                </a:solidFill>
                <a:latin typeface="Roboto"/>
              </a:rPr>
              <a:t>every record can expose restricted information or allow unauthorized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80" y="1554480"/>
            <a:ext cx="44107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Users should see only records they are permitted to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80" y="1833880"/>
            <a:ext cx="737362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1100">
                <a:solidFill>
                  <a:srgbClr val="243746"/>
                </a:solidFill>
                <a:latin typeface="Roboto"/>
              </a:rPr>
              <a:t>• Access may depend on a field such as Department, Company, Classification, Region, or Access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0" y="2113280"/>
            <a:ext cx="82232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sz="1100">
                <a:solidFill>
                  <a:srgbClr val="243746"/>
                </a:solidFill>
                <a:latin typeface="Roboto"/>
              </a:rPr>
              <a:t>• The security rule should be enforced at the platform ACL layer rather than relying only on client-side UI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80" y="2392680"/>
            <a:ext cx="726567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sz="1100">
                <a:solidFill>
                  <a:srgbClr val="243746"/>
                </a:solidFill>
                <a:latin typeface="Roboto"/>
              </a:rPr>
              <a:t>• The result should be consistent when the record is accessed through different supported interfaces.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241808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3" b="1" sz="2100">
                <a:solidFill>
                  <a:srgbClr val="16324F"/>
                </a:solidFill>
                <a:latin typeface="Roboto"/>
              </a:rPr>
              <a:t>3.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092200"/>
            <a:ext cx="25095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1" b="1" sz="1400">
                <a:solidFill>
                  <a:srgbClr val="1D5D7A"/>
                </a:solidFill>
                <a:latin typeface="Roboto"/>
              </a:rPr>
              <a:t>ACL (Access Control List)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389380"/>
            <a:ext cx="89712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An ACL is a ServiceNow security rule that determines whether a user can perform an operation such as read, write, create,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1592580"/>
            <a:ext cx="21259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1100">
                <a:solidFill>
                  <a:srgbClr val="243746"/>
                </a:solidFill>
                <a:latin typeface="Roboto"/>
              </a:rPr>
              <a:t>delete on a secured resource.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1955800"/>
            <a:ext cx="13906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3" b="1" sz="1400">
                <a:solidFill>
                  <a:srgbClr val="1D5D7A"/>
                </a:solidFill>
                <a:latin typeface="Roboto"/>
              </a:rPr>
              <a:t>Script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252980"/>
            <a:ext cx="938784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sz="1100">
                <a:solidFill>
                  <a:srgbClr val="243746"/>
                </a:solidFill>
                <a:latin typeface="Roboto"/>
              </a:rPr>
              <a:t>A scripted ACL uses server-side logic to make an access decision when the condition cannot be expressed sufficiently with a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2456180"/>
            <a:ext cx="12433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sz="1100">
                <a:solidFill>
                  <a:srgbClr val="243746"/>
                </a:solidFill>
                <a:latin typeface="Roboto"/>
              </a:rPr>
              <a:t>condition builder.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2819400"/>
            <a:ext cx="29603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7" b="1" sz="1400">
                <a:solidFill>
                  <a:srgbClr val="1D5D7A"/>
                </a:solidFill>
                <a:latin typeface="Roboto"/>
              </a:rPr>
              <a:t>Field-Value Based Restriction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780" y="3116580"/>
            <a:ext cx="8726170" cy="142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The ACL checks a value on the current record. Example: only users from the same department may access records whose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780" y="3319779"/>
            <a:ext cx="3548380" cy="142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5" sz="1100">
                <a:solidFill>
                  <a:srgbClr val="243746"/>
                </a:solidFill>
                <a:latin typeface="Roboto"/>
              </a:rPr>
              <a:t>Department field matches the user's department.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370332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2" b="1" sz="2100">
                <a:solidFill>
                  <a:srgbClr val="16324F"/>
                </a:solidFill>
                <a:latin typeface="Roboto"/>
              </a:rPr>
              <a:t>4. Proposed Access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059180"/>
            <a:ext cx="89268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1100">
                <a:solidFill>
                  <a:srgbClr val="243746"/>
                </a:solidFill>
                <a:latin typeface="Roboto"/>
              </a:rPr>
              <a:t>User requests a record → ServiceNow evaluates the applicable ACL → ACL checks role/condition/script → Record field value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262380"/>
            <a:ext cx="29260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sz="1100">
                <a:solidFill>
                  <a:srgbClr val="243746"/>
                </a:solidFill>
                <a:latin typeface="Roboto"/>
              </a:rPr>
              <a:t>evaluated → Access is allowed or denied.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69670" y="1700530"/>
          <a:ext cx="8352788" cy="1079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7880"/>
                <a:gridCol w="2087879"/>
                <a:gridCol w="2089150"/>
                <a:gridCol w="2087879"/>
              </a:tblGrid>
              <a:tr h="1079500">
                <a:tc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</a:p>
                    <a:p>
                      <a:pPr marL="82550" algn="l">
                        <a:lnSpc>
                          <a:spcPts val="1300"/>
                        </a:lnSpc>
                      </a:pPr>
                      <a:r>
                        <a:rPr spc="62" sz="950">
                          <a:solidFill>
                            <a:srgbClr val="243746"/>
                          </a:solidFill>
                          <a:latin typeface="Roboto"/>
                        </a:rPr>
                        <a:t>1. User Request</a:t>
                      </a:r>
                      <a:br/>
                      <a:r>
                        <a:rPr spc="63" sz="950">
                          <a:solidFill>
                            <a:srgbClr val="243746"/>
                          </a:solidFill>
                          <a:latin typeface="Roboto"/>
                        </a:rPr>
                        <a:t>Open / query record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7ea8ba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b8ccd6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7ea8b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7ea8ba">
                          <a:alpha val="100000"/>
                        </a:srgbClr>
                      </a:solidFill>
                    </a:lnB>
                    <a:solidFill>
                      <a:srgbClr val="e9f2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</a:p>
                    <a:p>
                      <a:pPr marL="83820" algn="l">
                        <a:lnSpc>
                          <a:spcPts val="1300"/>
                        </a:lnSpc>
                      </a:pPr>
                      <a:r>
                        <a:rPr spc="56" sz="950">
                          <a:solidFill>
                            <a:srgbClr val="243746"/>
                          </a:solidFill>
                          <a:latin typeface="Roboto"/>
                        </a:rPr>
                        <a:t>2. ACL Evaluation</a:t>
                      </a:r>
                      <a:br/>
                      <a:r>
                        <a:rPr spc="62" sz="950">
                          <a:solidFill>
                            <a:srgbClr val="243746"/>
                          </a:solidFill>
                          <a:latin typeface="Roboto"/>
                        </a:rPr>
                        <a:t>Security rule runs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b8ccd6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b8ccd6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7ea8b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7ea8ba">
                          <a:alpha val="100000"/>
                        </a:srgbClr>
                      </a:solidFill>
                    </a:lnB>
                    <a:solidFill>
                      <a:srgbClr val="e9f2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</a:p>
                    <a:p>
                      <a:pPr marL="83820" algn="l">
                        <a:lnSpc>
                          <a:spcPts val="1300"/>
                        </a:lnSpc>
                      </a:pPr>
                      <a:r>
                        <a:rPr spc="56" sz="950">
                          <a:solidFill>
                            <a:srgbClr val="243746"/>
                          </a:solidFill>
                          <a:latin typeface="Roboto"/>
                        </a:rPr>
                        <a:t>3. Field Check</a:t>
                      </a:r>
                      <a:br/>
                      <a:r>
                        <a:rPr spc="65" sz="950">
                          <a:solidFill>
                            <a:srgbClr val="243746"/>
                          </a:solidFill>
                          <a:latin typeface="Roboto"/>
                        </a:rPr>
                        <a:t>Compare record value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b8ccd6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b8ccd6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7ea8b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7ea8ba">
                          <a:alpha val="100000"/>
                        </a:srgbClr>
                      </a:solidFill>
                    </a:lnB>
                    <a:solidFill>
                      <a:srgbClr val="e9f2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780"/>
                        </a:lnSpc>
                      </a:pPr>
                    </a:p>
                    <a:p>
                      <a:pPr marL="83820" algn="l">
                        <a:lnSpc>
                          <a:spcPts val="1300"/>
                        </a:lnSpc>
                      </a:pPr>
                      <a:r>
                        <a:rPr spc="53" sz="950">
                          <a:solidFill>
                            <a:srgbClr val="243746"/>
                          </a:solidFill>
                          <a:latin typeface="Roboto"/>
                        </a:rPr>
                        <a:t>4. Decision</a:t>
                      </a:r>
                      <a:br/>
                      <a:r>
                        <a:rPr spc="53" sz="950">
                          <a:solidFill>
                            <a:srgbClr val="243746"/>
                          </a:solidFill>
                          <a:latin typeface="Roboto"/>
                        </a:rPr>
                        <a:t>Allow / Deny</a:t>
                      </a:r>
                    </a:p>
                  </a:txBody>
                  <a:tcPr marL="0" marR="0" marT="0" marB="0" vert="horz">
                    <a:lnL w="5080" cap="flat" cmpd="sng" algn="ctr">
                      <a:solidFill>
                        <a:srgbClr val="b8ccd6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7ea8ba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7ea8ba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7ea8ba">
                          <a:alpha val="100000"/>
                        </a:srgbClr>
                      </a:solidFill>
                    </a:lnB>
                    <a:solidFill>
                      <a:srgbClr val="e9f2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2780" y="3178810"/>
            <a:ext cx="938784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sz="1100">
                <a:solidFill>
                  <a:srgbClr val="243746"/>
                </a:solidFill>
                <a:latin typeface="Roboto"/>
              </a:rPr>
              <a:t>Example: If the record's Department = Finance, the script can verify whether the logged-in user is authorized for Finance records.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3382010"/>
            <a:ext cx="3168649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sz="1100">
                <a:solidFill>
                  <a:srgbClr val="243746"/>
                </a:solidFill>
                <a:latin typeface="Roboto"/>
              </a:rPr>
              <a:t>the rule evaluates to false, access is denied.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429133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9" b="1" sz="2100">
                <a:solidFill>
                  <a:srgbClr val="16324F"/>
                </a:solidFill>
                <a:latin typeface="Roboto"/>
              </a:rPr>
              <a:t>5. 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980" y="1059180"/>
            <a:ext cx="675640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Step 1: Identify the target table and the operation to protect (Read / Write / Create / Delete).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980" y="1338580"/>
            <a:ext cx="397129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1100">
                <a:solidFill>
                  <a:srgbClr val="243746"/>
                </a:solidFill>
                <a:latin typeface="Roboto"/>
              </a:rPr>
              <a:t>• Step 2: Identify the field whose value controls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80" y="1617980"/>
            <a:ext cx="48069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1100">
                <a:solidFill>
                  <a:srgbClr val="243746"/>
                </a:solidFill>
                <a:latin typeface="Roboto"/>
              </a:rPr>
              <a:t>• Step 3: Define who is authorized, using roles and/or user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80" y="1897380"/>
            <a:ext cx="493776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1100">
                <a:solidFill>
                  <a:srgbClr val="243746"/>
                </a:solidFill>
                <a:latin typeface="Roboto"/>
              </a:rPr>
              <a:t>• Step 4: Create the appropriate ACL at the required table/field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0" y="2176780"/>
            <a:ext cx="60998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sz="1100">
                <a:solidFill>
                  <a:srgbClr val="243746"/>
                </a:solidFill>
                <a:latin typeface="Roboto"/>
              </a:rPr>
              <a:t>• Step 5: Add the condition or server-side script that evaluates the record field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80" y="2456180"/>
            <a:ext cx="391287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1100">
                <a:solidFill>
                  <a:srgbClr val="243746"/>
                </a:solidFill>
                <a:latin typeface="Roboto"/>
              </a:rPr>
              <a:t>• Step 6: Test with authorized and unauthorized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980" y="2735580"/>
            <a:ext cx="84366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1100">
                <a:solidFill>
                  <a:srgbClr val="243746"/>
                </a:solidFill>
                <a:latin typeface="Roboto"/>
              </a:rPr>
              <a:t>• Step 7: Review logs/debugging information and verify that the rule does not unintentionally block legitimate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" y="1215390"/>
            <a:ext cx="9386570" cy="1155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2780" y="643890"/>
            <a:ext cx="375158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30" b="1" sz="2100">
                <a:solidFill>
                  <a:srgbClr val="16324F"/>
                </a:solidFill>
                <a:latin typeface="Roboto"/>
              </a:rPr>
              <a:t>6. Script Logic –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059180"/>
            <a:ext cx="59804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sz="1100">
                <a:solidFill>
                  <a:srgbClr val="243746"/>
                </a:solidFill>
                <a:latin typeface="Roboto"/>
              </a:rPr>
              <a:t>Illustrative logic (adapt the field and authorization source to the actual application):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2780" y="1215390"/>
          <a:ext cx="9386570" cy="11556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86570"/>
              </a:tblGrid>
              <a:tr h="1155699">
                <a:tc>
                  <a:txBody>
                    <a:bodyPr/>
                    <a:lstStyle/>
                    <a:p>
                      <a:pPr>
                        <a:lnSpc>
                          <a:spcPts val="580"/>
                        </a:lnSpc>
                      </a:pPr>
                    </a:p>
                    <a:p>
                      <a:pPr marL="97790" algn="l">
                        <a:lnSpc>
                          <a:spcPts val="1500"/>
                        </a:lnSpc>
                      </a:pPr>
                      <a:r>
                        <a:rPr spc="137" sz="1050">
                          <a:solidFill>
                            <a:srgbClr val="243746"/>
                          </a:solidFill>
                          <a:latin typeface="Roboto"/>
                        </a:rPr>
                        <a:t>// Example ACL logic</a:t>
                      </a:r>
                      <a:br/>
                      <a:r>
                        <a:rPr spc="153" sz="1050">
                          <a:solidFill>
                            <a:srgbClr val="243746"/>
                          </a:solidFill>
                          <a:latin typeface="Roboto"/>
                        </a:rPr>
                        <a:t>// Goal: allow access only when the record's department</a:t>
                      </a:r>
                      <a:br/>
                      <a:r>
                        <a:rPr spc="150" sz="1050">
                          <a:solidFill>
                            <a:srgbClr val="243746"/>
                          </a:solidFill>
                          <a:latin typeface="Roboto"/>
                        </a:rPr>
                        <a:t>// matches the user's authorized department.</a:t>
                      </a:r>
                    </a:p>
                    <a:p>
                      <a:pPr marL="97790" algn="l">
                        <a:lnSpc>
                          <a:spcPts val="1050"/>
                        </a:lnSpc>
                        <a:spcBef>
                          <a:spcPts val="1950"/>
                        </a:spcBef>
                      </a:pPr>
                      <a:r>
                        <a:rPr spc="147" sz="1050">
                          <a:solidFill>
                            <a:srgbClr val="243746"/>
                          </a:solidFill>
                          <a:latin typeface="Roboto"/>
                        </a:rPr>
                        <a:t>answer = (current.department == gs.getUser().getDepartmentID());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c8d4db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c8d4db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c8d4db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c8d4db">
                          <a:alpha val="100000"/>
                        </a:srgbClr>
                      </a:solidFill>
                    </a:lnB>
                    <a:solidFill>
                      <a:srgbClr val="f2f6f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2780" y="2642870"/>
            <a:ext cx="93395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sz="950">
                <a:solidFill>
                  <a:srgbClr val="243746"/>
                </a:solidFill>
                <a:latin typeface="Roboto"/>
              </a:rPr>
              <a:t>Important: The exact implementation depends on the application's data model and authorization design. The example illustrates the decision pattern,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780" y="2807970"/>
            <a:ext cx="19850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50">
                <a:solidFill>
                  <a:srgbClr val="243746"/>
                </a:solidFill>
                <a:latin typeface="Roboto"/>
              </a:rPr>
              <a:t>a drop-in rule for every instance.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397002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3" b="1" sz="2100">
                <a:solidFill>
                  <a:srgbClr val="16324F"/>
                </a:solidFill>
                <a:latin typeface="Roboto"/>
              </a:rPr>
              <a:t>7. 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980" y="1059180"/>
            <a:ext cx="71297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1100">
                <a:solidFill>
                  <a:srgbClr val="243746"/>
                </a:solidFill>
                <a:latin typeface="Roboto"/>
              </a:rPr>
              <a:t>• Use ACLs as the platform-level security control; do not depend only on client scripts or UI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980" y="1338580"/>
            <a:ext cx="652399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Keep authorization logic simple, auditable, and aligned with the application's data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80" y="1617980"/>
            <a:ext cx="444246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sz="1100">
                <a:solidFill>
                  <a:srgbClr val="243746"/>
                </a:solidFill>
                <a:latin typeface="Roboto"/>
              </a:rPr>
              <a:t>• Consider both record-level and field-level ACL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80" y="1897380"/>
            <a:ext cx="62420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sz="1100">
                <a:solidFill>
                  <a:srgbClr val="243746"/>
                </a:solidFill>
                <a:latin typeface="Roboto"/>
              </a:rPr>
              <a:t>• Test positive and negative cases, including users with different roles and field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0" y="2176780"/>
            <a:ext cx="46266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Avoid exposing restricted data through alternate access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80" y="2456180"/>
            <a:ext cx="624459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1100">
                <a:solidFill>
                  <a:srgbClr val="243746"/>
                </a:solidFill>
                <a:latin typeface="Roboto"/>
              </a:rPr>
              <a:t>• Document the business rule behind the field-value restriction for future maintenance.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559308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2" b="1" sz="2100">
                <a:solidFill>
                  <a:srgbClr val="16324F"/>
                </a:solidFill>
                <a:latin typeface="Roboto"/>
              </a:rPr>
              <a:t>8. Test Scenarios &amp; Expected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42060" y="1024890"/>
          <a:ext cx="8208009" cy="3035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90"/>
                <a:gridCol w="1728470"/>
                <a:gridCol w="2807969"/>
                <a:gridCol w="2951480"/>
              </a:tblGrid>
              <a:tr h="292100"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Test ID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53" sz="950">
                          <a:solidFill>
                            <a:srgbClr val="243746"/>
                          </a:solidFill>
                          <a:latin typeface="Roboto"/>
                        </a:rPr>
                        <a:t>Scenario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48" sz="950">
                          <a:solidFill>
                            <a:srgbClr val="243746"/>
                          </a:solidFill>
                          <a:latin typeface="Roboto"/>
                        </a:rPr>
                        <a:t>Test Steps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62" sz="950">
                          <a:solidFill>
                            <a:srgbClr val="243746"/>
                          </a:solidFill>
                          <a:latin typeface="Roboto"/>
                        </a:rPr>
                        <a:t>Expected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</a:tr>
              <a:tr h="457199"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ACL-01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58" sz="950">
                          <a:solidFill>
                            <a:srgbClr val="243746"/>
                          </a:solidFill>
                          <a:latin typeface="Roboto"/>
                        </a:rPr>
                        <a:t>Authorized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50"/>
                        </a:lnSpc>
                      </a:pPr>
                    </a:p>
                    <a:p>
                      <a:pPr marL="59690" algn="l">
                        <a:lnSpc>
                          <a:spcPts val="1300"/>
                        </a:lnSpc>
                      </a:pPr>
                      <a:r>
                        <a:rPr spc="59" sz="950">
                          <a:solidFill>
                            <a:srgbClr val="243746"/>
                          </a:solidFill>
                          <a:latin typeface="Roboto"/>
                        </a:rPr>
                        <a:t>Login as authorized user and open</a:t>
                      </a:r>
                      <a:br/>
                      <a:r>
                        <a:rPr spc="60" sz="950">
                          <a:solidFill>
                            <a:srgbClr val="243746"/>
                          </a:solidFill>
                          <a:latin typeface="Roboto"/>
                        </a:rPr>
                        <a:t>matching record.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47" sz="950">
                          <a:solidFill>
                            <a:srgbClr val="243746"/>
                          </a:solidFill>
                          <a:latin typeface="Roboto"/>
                        </a:rPr>
                        <a:t>Record is accessible.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ACL-02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61" sz="950">
                          <a:solidFill>
                            <a:srgbClr val="243746"/>
                          </a:solidFill>
                          <a:latin typeface="Roboto"/>
                        </a:rPr>
                        <a:t>Unauthorized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60"/>
                        </a:lnSpc>
                      </a:pPr>
                    </a:p>
                    <a:p>
                      <a:pPr marL="59690" algn="l">
                        <a:lnSpc>
                          <a:spcPts val="1300"/>
                        </a:lnSpc>
                      </a:pPr>
                      <a:r>
                        <a:rPr spc="55" sz="950">
                          <a:solidFill>
                            <a:srgbClr val="243746"/>
                          </a:solidFill>
                          <a:latin typeface="Roboto"/>
                        </a:rPr>
                        <a:t>Login as user without access and open</a:t>
                      </a:r>
                      <a:br/>
                      <a:r>
                        <a:rPr spc="56" sz="950">
                          <a:solidFill>
                            <a:srgbClr val="243746"/>
                          </a:solidFill>
                          <a:latin typeface="Roboto"/>
                        </a:rPr>
                        <a:t>restricted record.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0" sz="950">
                          <a:solidFill>
                            <a:srgbClr val="243746"/>
                          </a:solidFill>
                          <a:latin typeface="Roboto"/>
                        </a:rPr>
                        <a:t>Access is denied / record is not exposed.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ACL-03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58" sz="950">
                          <a:solidFill>
                            <a:srgbClr val="243746"/>
                          </a:solidFill>
                          <a:latin typeface="Roboto"/>
                        </a:rPr>
                        <a:t>Different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60"/>
                        </a:lnSpc>
                      </a:pPr>
                    </a:p>
                    <a:p>
                      <a:pPr marL="59690" algn="l">
                        <a:lnSpc>
                          <a:spcPts val="1300"/>
                        </a:lnSpc>
                      </a:pPr>
                      <a:r>
                        <a:rPr spc="57" sz="950">
                          <a:solidFill>
                            <a:srgbClr val="243746"/>
                          </a:solidFill>
                          <a:latin typeface="Roboto"/>
                        </a:rPr>
                        <a:t>Change the controlling field to a</a:t>
                      </a:r>
                      <a:br/>
                      <a:r>
                        <a:rPr spc="67" sz="950">
                          <a:solidFill>
                            <a:srgbClr val="243746"/>
                          </a:solidFill>
                          <a:latin typeface="Roboto"/>
                        </a:rPr>
                        <a:t>non-authorized value and retry.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2" sz="950">
                          <a:solidFill>
                            <a:srgbClr val="243746"/>
                          </a:solidFill>
                          <a:latin typeface="Roboto"/>
                        </a:rPr>
                        <a:t>Access follows the updated field value.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ACL-04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58" sz="950">
                          <a:solidFill>
                            <a:srgbClr val="243746"/>
                          </a:solidFill>
                          <a:latin typeface="Roboto"/>
                        </a:rPr>
                        <a:t>Role validation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58" sz="950">
                          <a:solidFill>
                            <a:srgbClr val="243746"/>
                          </a:solidFill>
                          <a:latin typeface="Roboto"/>
                        </a:rPr>
                        <a:t>Test users with and without required role.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60"/>
                        </a:lnSpc>
                      </a:pPr>
                    </a:p>
                    <a:p>
                      <a:pPr marL="60960" algn="l">
                        <a:lnSpc>
                          <a:spcPts val="1300"/>
                        </a:lnSpc>
                      </a:pPr>
                      <a:r>
                        <a:rPr spc="58" sz="950">
                          <a:solidFill>
                            <a:srgbClr val="243746"/>
                          </a:solidFill>
                          <a:latin typeface="Roboto"/>
                        </a:rPr>
                        <a:t>Only users satisfying the ACL requirements</a:t>
                      </a:r>
                      <a:br/>
                      <a:r>
                        <a:rPr spc="46" sz="950">
                          <a:solidFill>
                            <a:srgbClr val="243746"/>
                          </a:solidFill>
                          <a:latin typeface="Roboto"/>
                        </a:rPr>
                        <a:t>gain access.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ACL-05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60" sz="950">
                          <a:solidFill>
                            <a:srgbClr val="243746"/>
                          </a:solidFill>
                          <a:latin typeface="Roboto"/>
                        </a:rPr>
                        <a:t>Write protection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60"/>
                        </a:lnSpc>
                      </a:pPr>
                    </a:p>
                    <a:p>
                      <a:pPr marL="59690" algn="l">
                        <a:lnSpc>
                          <a:spcPts val="1300"/>
                        </a:lnSpc>
                      </a:pPr>
                      <a:r>
                        <a:rPr spc="52" sz="950">
                          <a:solidFill>
                            <a:srgbClr val="243746"/>
                          </a:solidFill>
                          <a:latin typeface="Roboto"/>
                        </a:rPr>
                        <a:t>Attempt to edit a record outside the allowed </a:t>
                      </a:r>
                      <a:r>
                        <a:rPr spc="43" sz="950">
                          <a:solidFill>
                            <a:srgbClr val="243746"/>
                          </a:solidFill>
                          <a:latin typeface="Roboto"/>
                        </a:rPr>
                        <a:t>scope.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9" sz="950">
                          <a:solidFill>
                            <a:srgbClr val="243746"/>
                          </a:solidFill>
                          <a:latin typeface="Roboto"/>
                        </a:rPr>
                        <a:t>Unauthorized update is blocked.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1" sz="950">
                          <a:solidFill>
                            <a:srgbClr val="243746"/>
                          </a:solidFill>
                          <a:latin typeface="Roboto"/>
                        </a:rPr>
                        <a:t>ACL-06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59690" algn="l">
                        <a:lnSpc>
                          <a:spcPts val="950"/>
                        </a:lnSpc>
                      </a:pPr>
                      <a:r>
                        <a:rPr spc="54" sz="950">
                          <a:solidFill>
                            <a:srgbClr val="243746"/>
                          </a:solidFill>
                          <a:latin typeface="Roboto"/>
                        </a:rPr>
                        <a:t>Regression check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60"/>
                        </a:lnSpc>
                      </a:pPr>
                    </a:p>
                    <a:p>
                      <a:pPr marL="59690" algn="l">
                        <a:lnSpc>
                          <a:spcPts val="1300"/>
                        </a:lnSpc>
                      </a:pPr>
                      <a:r>
                        <a:rPr spc="50" sz="950">
                          <a:solidFill>
                            <a:srgbClr val="243746"/>
                          </a:solidFill>
                          <a:latin typeface="Roboto"/>
                        </a:rPr>
                        <a:t>Test normal records and authorized records </a:t>
                      </a:r>
                      <a:r>
                        <a:rPr spc="60" sz="950">
                          <a:solidFill>
                            <a:srgbClr val="243746"/>
                          </a:solidFill>
                          <a:latin typeface="Roboto"/>
                        </a:rPr>
                        <a:t>after ACL deployment.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</a:p>
                    <a:p>
                      <a:pPr marL="60960" algn="l">
                        <a:lnSpc>
                          <a:spcPts val="950"/>
                        </a:lnSpc>
                      </a:pPr>
                      <a:r>
                        <a:rPr spc="57" sz="950">
                          <a:solidFill>
                            <a:srgbClr val="243746"/>
                          </a:solidFill>
                          <a:latin typeface="Roboto"/>
                        </a:rPr>
                        <a:t>Expected access remains available.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4cc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4cc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4cc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4cc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7284720"/>
            <a:ext cx="34670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800">
                <a:solidFill>
                  <a:srgbClr val="6B7C89"/>
                </a:solidFill>
                <a:latin typeface="Roboto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593217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0" b="1" sz="2100">
                <a:solidFill>
                  <a:srgbClr val="16324F"/>
                </a:solidFill>
                <a:latin typeface="Roboto"/>
              </a:rPr>
              <a:t>9. Performance &amp; Functional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980" y="1059180"/>
            <a:ext cx="74104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sz="1100">
                <a:solidFill>
                  <a:srgbClr val="243746"/>
                </a:solidFill>
                <a:latin typeface="Roboto"/>
              </a:rPr>
              <a:t>• Functional: Verify that authorized users can access permitted records and unauthorized users cannot.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980" y="1338580"/>
            <a:ext cx="58610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7" sz="1100">
                <a:solidFill>
                  <a:srgbClr val="243746"/>
                </a:solidFill>
                <a:latin typeface="Roboto"/>
              </a:rPr>
              <a:t>• Negative testing: Test null, unexpected, or changed field values where relevant.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80" y="1617980"/>
            <a:ext cx="801624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1100">
                <a:solidFill>
                  <a:srgbClr val="243746"/>
                </a:solidFill>
                <a:latin typeface="Roboto"/>
              </a:rPr>
              <a:t>• Performance: Confirm that the ACL logic does not introduce unnecessary processing for normal record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80" y="1897380"/>
            <a:ext cx="637159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1100">
                <a:solidFill>
                  <a:srgbClr val="243746"/>
                </a:solidFill>
                <a:latin typeface="Roboto"/>
              </a:rPr>
              <a:t>• Regression: Verify related roles, modules, forms, lists, and existing business processes.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0" y="2176780"/>
            <a:ext cx="73456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1100">
                <a:solidFill>
                  <a:srgbClr val="243746"/>
                </a:solidFill>
                <a:latin typeface="Roboto"/>
              </a:rPr>
              <a:t>• Auditability: Document the ACL name, operation, condition/script, intended users, and test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780" y="2693670"/>
            <a:ext cx="91338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50">
                <a:solidFill>
                  <a:srgbClr val="243746"/>
                </a:solidFill>
                <a:latin typeface="Roboto"/>
              </a:rPr>
              <a:t>The uploaded template emphasizes functional test cases, expected results, actual results, pass/fail status, response-time testing, API checks, and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80" y="2858770"/>
            <a:ext cx="33616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50">
                <a:solidFill>
                  <a:srgbClr val="243746"/>
                </a:solidFill>
                <a:latin typeface="Roboto"/>
              </a:rPr>
              <a:t>testing; those ideas can be adapted to this ACL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4070" y="7284720"/>
            <a:ext cx="4114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800">
                <a:solidFill>
                  <a:srgbClr val="6B7C89"/>
                </a:solidFill>
                <a:latin typeface="Roboto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33845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7" b="1" sz="2100">
                <a:solidFill>
                  <a:srgbClr val="16324F"/>
                </a:solidFill>
                <a:latin typeface="Roboto"/>
              </a:rPr>
              <a:t>10.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980" y="1059180"/>
            <a:ext cx="49212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sz="1100">
                <a:solidFill>
                  <a:srgbClr val="243746"/>
                </a:solidFill>
                <a:latin typeface="Roboto"/>
              </a:rPr>
              <a:t>• Record access is controlled according to the configured field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980" y="1338580"/>
            <a:ext cx="484378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sz="1100">
                <a:solidFill>
                  <a:srgbClr val="243746"/>
                </a:solidFill>
                <a:latin typeface="Roboto"/>
              </a:rPr>
              <a:t>• Authorized users can access records within their permitted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80" y="1617980"/>
            <a:ext cx="504825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Unauthorized users are prevented from accessing restricted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980" y="1897380"/>
            <a:ext cx="34150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1100">
                <a:solidFill>
                  <a:srgbClr val="243746"/>
                </a:solidFill>
                <a:latin typeface="Roboto"/>
              </a:rPr>
              <a:t>• Security enforcement occurs at the ACL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980" y="2176780"/>
            <a:ext cx="423291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Test evidence demonstrates correct allow/deny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80" y="2456180"/>
            <a:ext cx="690499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1" sz="1100">
                <a:solidFill>
                  <a:srgbClr val="243746"/>
                </a:solidFill>
                <a:latin typeface="Roboto"/>
              </a:rPr>
              <a:t>• The solution is easier to audit and maintain when the authorization rule is clearly documented.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04070" y="7284720"/>
            <a:ext cx="4114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800">
                <a:solidFill>
                  <a:srgbClr val="6B7C89"/>
                </a:solidFill>
                <a:latin typeface="Roboto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7223759"/>
            <a:ext cx="953897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780" y="643890"/>
            <a:ext cx="21971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4" b="1" sz="2100">
                <a:solidFill>
                  <a:srgbClr val="16324F"/>
                </a:solidFill>
                <a:latin typeface="Roboto"/>
              </a:rP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780" y="1059180"/>
            <a:ext cx="938784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sz="1100">
                <a:solidFill>
                  <a:srgbClr val="243746"/>
                </a:solidFill>
                <a:latin typeface="Roboto"/>
              </a:rPr>
              <a:t>A scripted ACL provides a flexible way to enforce record-level security when access depends on information stored in the record.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780" y="1262380"/>
            <a:ext cx="938403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sz="1100">
                <a:solidFill>
                  <a:srgbClr val="243746"/>
                </a:solidFill>
                <a:latin typeface="Roboto"/>
              </a:rPr>
              <a:t>combining the correct ACL operation, field-value evaluation, authorization logic, and structured testing, the application can enforce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780" y="1465580"/>
            <a:ext cx="2007870" cy="1422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1100">
                <a:solidFill>
                  <a:srgbClr val="243746"/>
                </a:solidFill>
                <a:latin typeface="Roboto"/>
              </a:rPr>
              <a:t>consistent access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6900" y="2087880"/>
            <a:ext cx="1878329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2" b="1" sz="2500">
                <a:solidFill>
                  <a:srgbClr val="16324F"/>
                </a:solidFill>
                <a:latin typeface="Roboto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4030" y="2757170"/>
            <a:ext cx="20853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1400">
                <a:solidFill>
                  <a:srgbClr val="3E5C76"/>
                </a:solidFill>
                <a:latin typeface="Roboto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580" y="7284720"/>
            <a:ext cx="31521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800">
                <a:solidFill>
                  <a:srgbClr val="6B7C89"/>
                </a:solidFill>
                <a:latin typeface="Roboto"/>
              </a:rPr>
              <a:t>Scripted ACL – Restricted Record Access Based on Field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4070" y="7284720"/>
            <a:ext cx="4114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800">
                <a:solidFill>
                  <a:srgbClr val="6B7C89"/>
                </a:solidFill>
                <a:latin typeface="Roboto"/>
              </a:rPr>
              <a:t>Page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