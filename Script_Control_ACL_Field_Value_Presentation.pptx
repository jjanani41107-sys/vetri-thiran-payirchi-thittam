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1595120"/>
            <a:ext cx="483997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7" b="1" sz="2800">
                <a:solidFill>
                  <a:srgbClr val="000000"/>
                </a:solidFill>
                <a:latin typeface="Roboto"/>
              </a:rPr>
              <a:t>SCRIPT CONTROL FOR 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9690" y="2026920"/>
            <a:ext cx="549275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9" b="1" sz="2800">
                <a:solidFill>
                  <a:srgbClr val="000000"/>
                </a:solidFill>
                <a:latin typeface="Roboto"/>
              </a:rPr>
              <a:t>RESTRICTED RECORD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1190" y="2573020"/>
            <a:ext cx="18097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500">
                <a:solidFill>
                  <a:srgbClr val="000000"/>
                </a:solidFill>
                <a:latin typeface="Roboto"/>
              </a:rPr>
              <a:t>Based on Field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8180" y="3260090"/>
            <a:ext cx="171577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500">
                <a:solidFill>
                  <a:srgbClr val="000000"/>
                </a:solidFill>
                <a:latin typeface="Roboto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9679" y="4234180"/>
            <a:ext cx="311277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500">
                <a:solidFill>
                  <a:srgbClr val="000000"/>
                </a:solidFill>
                <a:latin typeface="Roboto"/>
              </a:rPr>
              <a:t>Salesforce / Access-Control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194056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b="1" sz="2200">
                <a:solidFill>
                  <a:srgbClr val="000000"/>
                </a:solidFill>
                <a:latin typeface="Roboto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3687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300">
                <a:solidFill>
                  <a:srgbClr val="000000"/>
                </a:solidFill>
                <a:latin typeface="Roboto"/>
              </a:rPr>
              <a:t>Access Control Lists (ACLs) are used to control who can access records or perform operations on data. A field-value based 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64516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300">
                <a:solidFill>
                  <a:srgbClr val="000000"/>
                </a:solidFill>
                <a:latin typeface="Roboto"/>
              </a:rPr>
              <a:t>adds a condition: access is allowed or denied depending on the value of a selected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584960"/>
            <a:ext cx="28740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300">
                <a:solidFill>
                  <a:srgbClr val="000000"/>
                </a:solidFill>
                <a:latin typeface="Roboto"/>
              </a:rPr>
              <a:t>• Protect sensitive or restricted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1915160"/>
            <a:ext cx="47002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300">
                <a:solidFill>
                  <a:srgbClr val="000000"/>
                </a:solidFill>
                <a:latin typeface="Roboto"/>
              </a:rPr>
              <a:t>• Apply access rules dynamically instead of giving broad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245360"/>
            <a:ext cx="41503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300">
                <a:solidFill>
                  <a:srgbClr val="000000"/>
                </a:solidFill>
                <a:latin typeface="Roboto"/>
              </a:rPr>
              <a:t>• Use a field value as the decision point for authorization.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" y="2575560"/>
            <a:ext cx="46736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• Improve data security and reduce unauthorized record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343154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b="1" sz="2200">
                <a:solidFill>
                  <a:srgbClr val="000000"/>
                </a:solidFill>
                <a:latin typeface="Roboto"/>
              </a:rPr>
              <a:t>2. Objective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40309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300">
                <a:solidFill>
                  <a:srgbClr val="000000"/>
                </a:solidFill>
                <a:latin typeface="Roboto"/>
              </a:rPr>
              <a:t>• Restrict record access based on a specific field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43700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300">
                <a:solidFill>
                  <a:srgbClr val="000000"/>
                </a:solidFill>
                <a:latin typeface="Roboto"/>
              </a:rPr>
              <a:t>• Implement script-based control for authorization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37096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• Allow authorized users to access eligible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54063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300">
                <a:solidFill>
                  <a:srgbClr val="000000"/>
                </a:solidFill>
                <a:latin typeface="Roboto"/>
              </a:rPr>
              <a:t>• Prevent unauthorized users from viewing or modifying restricted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4013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• Test the rule with different field values and user roles.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17297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6" b="1" sz="2200">
                <a:solidFill>
                  <a:srgbClr val="000000"/>
                </a:solidFill>
                <a:latin typeface="Roboto"/>
              </a:rPr>
              <a:t>3. Key Concepts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92480" y="977900"/>
          <a:ext cx="910717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200"/>
                <a:gridCol w="737997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48" b="1" sz="1200">
                          <a:solidFill>
                            <a:srgbClr val="FFFFFF"/>
                          </a:solidFill>
                          <a:latin typeface="Roboto"/>
                        </a:rPr>
                        <a:t>Concept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34" b="1" sz="1200">
                          <a:solidFill>
                            <a:srgbClr val="FFFFFF"/>
                          </a:solidFill>
                          <a:latin typeface="Roboto"/>
                        </a:rPr>
                        <a:t>Meaning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39" sz="1200">
                          <a:solidFill>
                            <a:srgbClr val="000000"/>
                          </a:solidFill>
                          <a:latin typeface="Roboto"/>
                        </a:rPr>
                        <a:t>ACL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A security rule that controls access to data or operations.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4" sz="1200">
                          <a:solidFill>
                            <a:srgbClr val="000000"/>
                          </a:solidFill>
                          <a:latin typeface="Roboto"/>
                        </a:rPr>
                        <a:t>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1" sz="1200">
                          <a:solidFill>
                            <a:srgbClr val="000000"/>
                          </a:solidFill>
                          <a:latin typeface="Roboto"/>
                        </a:rPr>
                        <a:t>A single data entry containing related fields and values.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2" sz="1200">
                          <a:solidFill>
                            <a:srgbClr val="000000"/>
                          </a:solidFill>
                          <a:latin typeface="Roboto"/>
                        </a:rPr>
                        <a:t>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2" sz="1200">
                          <a:solidFill>
                            <a:srgbClr val="000000"/>
                          </a:solidFill>
                          <a:latin typeface="Roboto"/>
                        </a:rPr>
                        <a:t>The value stored in a field and used as a condition.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4" sz="1200">
                          <a:solidFill>
                            <a:srgbClr val="000000"/>
                          </a:solidFill>
                          <a:latin typeface="Roboto"/>
                        </a:rPr>
                        <a:t>Script Control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6" sz="1200">
                          <a:solidFill>
                            <a:srgbClr val="000000"/>
                          </a:solidFill>
                          <a:latin typeface="Roboto"/>
                        </a:rPr>
                        <a:t>Logic that evaluates conditions before allowing access.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13" sz="1200">
                          <a:solidFill>
                            <a:srgbClr val="000000"/>
                          </a:solidFill>
                          <a:latin typeface="Roboto"/>
                        </a:rPr>
                        <a:t>Authorization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3" sz="1200">
                          <a:solidFill>
                            <a:srgbClr val="000000"/>
                          </a:solidFill>
                          <a:latin typeface="Roboto"/>
                        </a:rPr>
                        <a:t>The decision about whether a user is permitted to perform an action.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68605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4" b="1" sz="2200">
                <a:solidFill>
                  <a:srgbClr val="000000"/>
                </a:solidFill>
                <a:latin typeface="Roboto"/>
              </a:rPr>
              <a:t>4.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25717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300">
                <a:solidFill>
                  <a:srgbClr val="000000"/>
                </a:solidFill>
                <a:latin typeface="Roboto"/>
              </a:rPr>
              <a:t>• User requests access to a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38836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300">
                <a:solidFill>
                  <a:srgbClr val="000000"/>
                </a:solidFill>
                <a:latin typeface="Roboto"/>
              </a:rPr>
              <a:t>• The ACL rule is triggered for the required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32143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300">
                <a:solidFill>
                  <a:srgbClr val="000000"/>
                </a:solidFill>
                <a:latin typeface="Roboto"/>
              </a:rPr>
              <a:t>• The script reads the configured field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42240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300">
                <a:solidFill>
                  <a:srgbClr val="000000"/>
                </a:solidFill>
                <a:latin typeface="Roboto"/>
              </a:rPr>
              <a:t>• The field value is compared with the permitted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34163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300">
                <a:solidFill>
                  <a:srgbClr val="000000"/>
                </a:solidFill>
                <a:latin typeface="Roboto"/>
              </a:rPr>
              <a:t>• If the condition is satisfied, access is granted.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" y="2664460"/>
            <a:ext cx="36271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300">
                <a:solidFill>
                  <a:srgbClr val="000000"/>
                </a:solidFill>
                <a:latin typeface="Roboto"/>
              </a:rPr>
              <a:t>• If the condition is not satisfied, access is denied.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90" y="3251200"/>
            <a:ext cx="746633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300">
                <a:solidFill>
                  <a:srgbClr val="000000"/>
                </a:solidFill>
                <a:latin typeface="Roboto"/>
              </a:rPr>
              <a:t>Simple flow: User </a:t>
            </a:r>
            <a:r>
              <a:rPr spc="6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20" sz="1300">
                <a:solidFill>
                  <a:srgbClr val="000000"/>
                </a:solidFill>
                <a:latin typeface="Roboto"/>
              </a:rPr>
              <a:t> Record Request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44" sz="1300">
                <a:solidFill>
                  <a:srgbClr val="000000"/>
                </a:solidFill>
                <a:latin typeface="Roboto"/>
              </a:rPr>
              <a:t> ACL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24" sz="1300">
                <a:solidFill>
                  <a:srgbClr val="000000"/>
                </a:solidFill>
                <a:latin typeface="Roboto"/>
              </a:rPr>
              <a:t> Read Field Value </a:t>
            </a:r>
            <a:r>
              <a:rPr spc="6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8" sz="1300">
                <a:solidFill>
                  <a:srgbClr val="000000"/>
                </a:solidFill>
                <a:latin typeface="Roboto"/>
              </a:rPr>
              <a:t> Condition Check </a:t>
            </a:r>
            <a:r>
              <a:rPr spc="6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0" sz="1300">
                <a:solidFill>
                  <a:srgbClr val="000000"/>
                </a:solidFill>
                <a:latin typeface="Roboto"/>
              </a:rPr>
              <a:t> Allow / Deny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371094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4" b="1" sz="2200">
                <a:solidFill>
                  <a:srgbClr val="000000"/>
                </a:solidFill>
                <a:latin typeface="Roboto"/>
              </a:rPr>
              <a:t>5. Example Field-Value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49706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Assume a record contains a field named </a:t>
            </a:r>
            <a:r>
              <a:rPr spc="54" b="1" sz="1300">
                <a:solidFill>
                  <a:srgbClr val="000000"/>
                </a:solidFill>
                <a:latin typeface="Roboto"/>
              </a:rPr>
              <a:t>Access_Status</a:t>
            </a:r>
            <a:r>
              <a:rPr spc="-1" sz="1300">
                <a:solidFill>
                  <a:srgbClr val="000000"/>
                </a:solidFill>
                <a:latin typeface="Roboto"/>
              </a:rPr>
              <a:t>. The security rule permits access only when the field value indicates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30365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300">
                <a:solidFill>
                  <a:srgbClr val="000000"/>
                </a:solidFill>
                <a:latin typeface="Roboto"/>
              </a:rPr>
              <a:t>the record is available to the current user.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5819" y="1549400"/>
          <a:ext cx="9000489" cy="14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680"/>
                <a:gridCol w="6480809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47" b="1" sz="1300">
                          <a:solidFill>
                            <a:srgbClr val="FFFFFF"/>
                          </a:solidFill>
                          <a:latin typeface="Roboto"/>
                        </a:rPr>
                        <a:t>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60" b="1" sz="1300">
                          <a:solidFill>
                            <a:srgbClr val="FFFFFF"/>
                          </a:solidFill>
                          <a:latin typeface="Roboto"/>
                        </a:rPr>
                        <a:t>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-11" sz="1300">
                          <a:solidFill>
                            <a:srgbClr val="000000"/>
                          </a:solidFill>
                          <a:latin typeface="Roboto"/>
                        </a:rPr>
                        <a:t>Allowed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-12" sz="1300">
                          <a:solidFill>
                            <a:srgbClr val="000000"/>
                          </a:solidFill>
                          <a:latin typeface="Roboto"/>
                        </a:rPr>
                        <a:t>Access permitted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-3" sz="1300">
                          <a:solidFill>
                            <a:srgbClr val="000000"/>
                          </a:solidFill>
                          <a:latin typeface="Roboto"/>
                        </a:rPr>
                        <a:t>Restricted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1" sz="130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6" sz="1300">
                          <a:solidFill>
                            <a:srgbClr val="000000"/>
                          </a:solidFill>
                          <a:latin typeface="Roboto"/>
                        </a:rPr>
                        <a:t>Pending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marL="73660" algn="l">
                        <a:lnSpc>
                          <a:spcPts val="1300"/>
                        </a:lnSpc>
                      </a:pPr>
                      <a:r>
                        <a:rPr spc="-1" sz="1300">
                          <a:solidFill>
                            <a:srgbClr val="000000"/>
                          </a:solidFill>
                          <a:latin typeface="Roboto"/>
                        </a:rPr>
                        <a:t>Access depends on the configured business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99593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b="1" sz="2200">
                <a:solidFill>
                  <a:srgbClr val="000000"/>
                </a:solidFill>
                <a:latin typeface="Roboto"/>
              </a:rPr>
              <a:t>6. Script Control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3141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The script should evaluate the field value and return an authorization result. The exact syntax depends on the platform and 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11645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1300">
                <a:solidFill>
                  <a:srgbClr val="000000"/>
                </a:solidFill>
                <a:latin typeface="Roboto"/>
              </a:rPr>
              <a:t>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390" y="1586230"/>
            <a:ext cx="103631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300">
                <a:solidFill>
                  <a:srgbClr val="000000"/>
                </a:solidFill>
                <a:latin typeface="Roboto"/>
              </a:rPr>
              <a:t>Pseudocode: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390" y="2067560"/>
            <a:ext cx="262762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300">
                <a:solidFill>
                  <a:srgbClr val="000000"/>
                </a:solidFill>
                <a:latin typeface="Roboto"/>
              </a:rPr>
              <a:t>IF record.Access_Status = 'Allowed'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550" y="2308860"/>
            <a:ext cx="15595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300">
                <a:solidFill>
                  <a:srgbClr val="000000"/>
                </a:solidFill>
                <a:latin typeface="Roboto"/>
              </a:rPr>
              <a:t> THEN permit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390" y="2550160"/>
            <a:ext cx="4216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1300">
                <a:solidFill>
                  <a:srgbClr val="000000"/>
                </a:solidFill>
                <a:latin typeface="Roboto"/>
              </a:rPr>
              <a:t>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50" y="2791460"/>
            <a:ext cx="9639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300">
                <a:solidFill>
                  <a:srgbClr val="000000"/>
                </a:solidFill>
                <a:latin typeface="Roboto"/>
              </a:rPr>
              <a:t> deny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390" y="3121660"/>
            <a:ext cx="935481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For production use, the condition should also consider the user's role, ownership, required operation, and any additional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390" y="3362960"/>
            <a:ext cx="23215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rules defined by the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141224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2200">
                <a:solidFill>
                  <a:srgbClr val="000000"/>
                </a:solidFill>
                <a:latin typeface="Roboto"/>
              </a:rPr>
              <a:t>7.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217677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300">
                <a:solidFill>
                  <a:srgbClr val="000000"/>
                </a:solidFill>
                <a:latin typeface="Roboto"/>
              </a:rPr>
              <a:t>• Fine-grained access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39484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300">
                <a:solidFill>
                  <a:srgbClr val="000000"/>
                </a:solidFill>
                <a:latin typeface="Roboto"/>
              </a:rPr>
              <a:t>• Dynamic authorization based on current record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29210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" sz="1300">
                <a:solidFill>
                  <a:srgbClr val="000000"/>
                </a:solidFill>
                <a:latin typeface="Roboto"/>
              </a:rPr>
              <a:t>• Better protection for restricted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35534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• Reduced risk of exposing sensitive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31318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300">
                <a:solidFill>
                  <a:srgbClr val="000000"/>
                </a:solidFill>
                <a:latin typeface="Roboto"/>
              </a:rPr>
              <a:t>• Centralized and repeatable security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" y="2664460"/>
            <a:ext cx="32880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300">
                <a:solidFill>
                  <a:srgbClr val="000000"/>
                </a:solidFill>
                <a:latin typeface="Roboto"/>
              </a:rPr>
              <a:t>• Easier testing of different access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99593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b="1" sz="2200">
                <a:solidFill>
                  <a:srgbClr val="000000"/>
                </a:solidFill>
                <a:latin typeface="Roboto"/>
              </a:rPr>
              <a:t>8. 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5819" y="977900"/>
          <a:ext cx="9000489" cy="177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40"/>
                <a:gridCol w="2700019"/>
                <a:gridCol w="5040630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35" b="1" sz="1200">
                          <a:solidFill>
                            <a:srgbClr val="FFFFFF"/>
                          </a:solidFill>
                          <a:latin typeface="Roboto"/>
                        </a:rPr>
                        <a:t>Test Case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43" b="1" sz="1200">
                          <a:solidFill>
                            <a:srgbClr val="FFFFFF"/>
                          </a:solidFill>
                          <a:latin typeface="Roboto"/>
                        </a:rPr>
                        <a:t>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52" b="1" sz="1200">
                          <a:solidFill>
                            <a:srgbClr val="FFFFFF"/>
                          </a:solidFill>
                          <a:latin typeface="Roboto"/>
                        </a:rPr>
                        <a:t>Expected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3344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10" sz="1200">
                          <a:solidFill>
                            <a:srgbClr val="000000"/>
                          </a:solidFill>
                          <a:latin typeface="Roboto"/>
                        </a:rPr>
                        <a:t>Allowed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5" sz="1200">
                          <a:solidFill>
                            <a:srgbClr val="000000"/>
                          </a:solidFill>
                          <a:latin typeface="Roboto"/>
                        </a:rPr>
                        <a:t>Access Granted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2" sz="1200">
                          <a:solidFill>
                            <a:srgbClr val="000000"/>
                          </a:solidFill>
                          <a:latin typeface="Roboto"/>
                        </a:rPr>
                        <a:t>Restricted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8" sz="120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6" sz="1200">
                          <a:solidFill>
                            <a:srgbClr val="000000"/>
                          </a:solidFill>
                          <a:latin typeface="Roboto"/>
                        </a:rPr>
                        <a:t>Pending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1" sz="1200">
                          <a:solidFill>
                            <a:srgbClr val="000000"/>
                          </a:solidFill>
                          <a:latin typeface="Roboto"/>
                        </a:rPr>
                        <a:t>Rule-specific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9" sz="1200">
                          <a:solidFill>
                            <a:srgbClr val="000000"/>
                          </a:solidFill>
                          <a:latin typeface="Roboto"/>
                        </a:rPr>
                        <a:t>Invalid / blank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3" sz="1200">
                          <a:solidFill>
                            <a:srgbClr val="000000"/>
                          </a:solidFill>
                          <a:latin typeface="Roboto"/>
                        </a:rPr>
                        <a:t>Safely deny or handle according to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2f4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0390" y="3084830"/>
            <a:ext cx="948816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300">
                <a:solidFill>
                  <a:srgbClr val="000000"/>
                </a:solidFill>
                <a:latin typeface="Roboto"/>
              </a:rPr>
              <a:t>Testing should verify both positive and negative cases and confirm that restricted records cannot be accessed through unintended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390" y="3326129"/>
            <a:ext cx="44957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300">
                <a:solidFill>
                  <a:srgbClr val="000000"/>
                </a:solidFill>
                <a:latin typeface="Roboto"/>
              </a:rPr>
              <a:t>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352425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b="1" sz="2200">
                <a:solidFill>
                  <a:srgbClr val="000000"/>
                </a:solidFill>
                <a:latin typeface="Roboto"/>
              </a:rPr>
              <a:t>9. 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28016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• Follow the principle of least privilege.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41681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• Do not rely only on client-side checks for sensitive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41592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300">
                <a:solidFill>
                  <a:srgbClr val="000000"/>
                </a:solidFill>
                <a:latin typeface="Roboto"/>
              </a:rPr>
              <a:t>• Handle blank, unexpected, or invalid field values safely.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58750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300">
                <a:solidFill>
                  <a:srgbClr val="000000"/>
                </a:solidFill>
                <a:latin typeface="Roboto"/>
              </a:rPr>
              <a:t>• Test read, create, update, and delete permissions separately where applicable.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5664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300">
                <a:solidFill>
                  <a:srgbClr val="000000"/>
                </a:solidFill>
                <a:latin typeface="Roboto"/>
              </a:rPr>
              <a:t>• Review the rule whenever the underlying field or business process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5560" y="7218680"/>
            <a:ext cx="425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900">
                <a:solidFill>
                  <a:srgbClr val="000000"/>
                </a:solidFill>
                <a:latin typeface="Roboto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198755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b="1" sz="2200">
                <a:solidFill>
                  <a:srgbClr val="000000"/>
                </a:solidFill>
                <a:latin typeface="Roboto"/>
              </a:rP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2671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Script-controlled ACLs provide a flexible way to protect records using field values as authorization conditions. By evaluating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93954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300">
                <a:solidFill>
                  <a:srgbClr val="000000"/>
                </a:solidFill>
                <a:latin typeface="Roboto"/>
              </a:rPr>
              <a:t>record before access is granted, the system can separate permitted records from restricted records and apply consistent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390" y="1496060"/>
            <a:ext cx="40385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300">
                <a:solidFill>
                  <a:srgbClr val="000000"/>
                </a:solidFill>
                <a:latin typeface="Roboto"/>
              </a:rPr>
              <a:t>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390" y="1818639"/>
            <a:ext cx="88798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00">
                <a:solidFill>
                  <a:srgbClr val="000000"/>
                </a:solidFill>
                <a:latin typeface="Roboto"/>
              </a:rPr>
              <a:t>The uploaded project template describes a Salesforce automation/data-management project using objects, fields and reports, with model testing and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390" y="1987550"/>
            <a:ext cx="6880859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00">
                <a:solidFill>
                  <a:srgbClr val="000000"/>
                </a:solidFill>
                <a:latin typeface="Roboto"/>
              </a:rPr>
              <a:t>information; this presentation adapts that project-document style to the requested ACL topic. </a:t>
            </a:r>
            <a:r>
              <a:rPr spc="498" sz="1000">
                <a:solidFill>
                  <a:srgbClr val="000000"/>
                </a:solidFill>
                <a:latin typeface="Roboto"/>
              </a:rPr>
              <a:t>I</a:t>
            </a:r>
            <a:r>
              <a:rPr spc="-20" sz="1000">
                <a:solidFill>
                  <a:srgbClr val="000000"/>
                </a:solidFill>
                <a:latin typeface="Roboto"/>
              </a:rPr>
              <a:t>filecite</a:t>
            </a:r>
            <a:r>
              <a:rPr spc="488" sz="1000">
                <a:solidFill>
                  <a:srgbClr val="000000"/>
                </a:solidFill>
                <a:latin typeface="Roboto"/>
              </a:rPr>
              <a:t>I</a:t>
            </a:r>
            <a:r>
              <a:rPr spc="-15" sz="1000">
                <a:solidFill>
                  <a:srgbClr val="000000"/>
                </a:solidFill>
                <a:latin typeface="Roboto"/>
              </a:rPr>
              <a:t>turn0file0</a:t>
            </a:r>
            <a:r>
              <a:rPr spc="488" sz="1000">
                <a:solidFill>
                  <a:srgbClr val="000000"/>
                </a:solidFill>
                <a:latin typeface="Roboto"/>
              </a:rPr>
              <a:t>I</a:t>
            </a:r>
            <a:r>
              <a:rPr spc="13" sz="1000">
                <a:solidFill>
                  <a:srgbClr val="000000"/>
                </a:solidFill>
                <a:latin typeface="Roboto"/>
              </a:rPr>
              <a:t>L8-L18</a:t>
            </a:r>
            <a:r>
              <a:rPr spc="488" sz="1000">
                <a:solidFill>
                  <a:srgbClr val="000000"/>
                </a:solidFill>
                <a:latin typeface="Roboto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5560" y="7218680"/>
            <a:ext cx="425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900">
                <a:solidFill>
                  <a:srgbClr val="000000"/>
                </a:solidFill>
                <a:latin typeface="Roboto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88790" y="1487170"/>
            <a:ext cx="211455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b="1" sz="2800">
                <a:solidFill>
                  <a:srgbClr val="000000"/>
                </a:solidFill>
                <a:latin typeface="Roboto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6010" y="2321560"/>
            <a:ext cx="596011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500">
                <a:solidFill>
                  <a:srgbClr val="000000"/>
                </a:solidFill>
                <a:latin typeface="Roboto"/>
              </a:rPr>
              <a:t>Script Control for ACL Restricted Record Access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5560" y="7218680"/>
            <a:ext cx="425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900">
                <a:solidFill>
                  <a:srgbClr val="000000"/>
                </a:solidFill>
                <a:latin typeface="Roboto"/>
              </a:rPr>
              <a:t>Page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