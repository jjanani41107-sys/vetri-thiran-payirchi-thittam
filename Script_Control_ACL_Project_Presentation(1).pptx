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29230" y="1696720"/>
            <a:ext cx="21005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1300">
                <a:solidFill>
                  <a:srgbClr val="555555"/>
                </a:solidFill>
                <a:latin typeface="Roboto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0770" y="2223770"/>
            <a:ext cx="285750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b="1" sz="2500">
                <a:solidFill>
                  <a:srgbClr val="000000"/>
                </a:solidFill>
                <a:latin typeface="Roboto"/>
              </a:rPr>
              <a:t>Script Control 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100" y="2795270"/>
            <a:ext cx="5452109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2" b="1" sz="2500">
                <a:solidFill>
                  <a:srgbClr val="000000"/>
                </a:solidFill>
                <a:latin typeface="Roboto"/>
              </a:rPr>
              <a:t>Restricted Record Access Based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1320" y="3188970"/>
            <a:ext cx="167640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9" b="1" sz="2500">
                <a:solidFill>
                  <a:srgbClr val="000000"/>
                </a:solidFill>
                <a:latin typeface="Roboto"/>
              </a:rPr>
              <a:t>Field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014470"/>
            <a:ext cx="584580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300">
                <a:solidFill>
                  <a:srgbClr val="555555"/>
                </a:solidFill>
                <a:latin typeface="Roboto"/>
              </a:rPr>
              <a:t>A structured project document for implementing field-value-based record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6990" y="4255770"/>
            <a:ext cx="23863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300">
                <a:solidFill>
                  <a:srgbClr val="555555"/>
                </a:solidFill>
                <a:latin typeface="Roboto"/>
              </a:rPr>
              <a:t>control using Scripted ACL logic.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00430" y="5252720"/>
          <a:ext cx="575945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7200"/>
                <a:gridCol w="403225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</a:p>
                    <a:p>
                      <a:pPr marL="72390" algn="l">
                        <a:lnSpc>
                          <a:spcPts val="1000"/>
                        </a:lnSpc>
                      </a:pPr>
                      <a:r>
                        <a:rPr spc="34" b="1" sz="1000">
                          <a:solidFill>
                            <a:srgbClr val="17365D"/>
                          </a:solidFill>
                          <a:latin typeface="Roboto"/>
                        </a:rPr>
                        <a:t>Project Area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</a:p>
                    <a:p>
                      <a:pPr marL="72390" algn="l">
                        <a:lnSpc>
                          <a:spcPts val="1000"/>
                        </a:lnSpc>
                      </a:pPr>
                      <a:r>
                        <a:rPr spc="-1" sz="1000">
                          <a:solidFill>
                            <a:srgbClr val="000000"/>
                          </a:solidFill>
                          <a:latin typeface="Roboto"/>
                        </a:rPr>
                        <a:t>Access Control / ACL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</a:p>
                    <a:p>
                      <a:pPr marL="72390" algn="l">
                        <a:lnSpc>
                          <a:spcPts val="1000"/>
                        </a:lnSpc>
                      </a:pPr>
                      <a:r>
                        <a:rPr spc="41" b="1" sz="1000">
                          <a:solidFill>
                            <a:srgbClr val="17365D"/>
                          </a:solidFill>
                          <a:latin typeface="Roboto"/>
                        </a:rPr>
                        <a:t>Core Concept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</a:p>
                    <a:p>
                      <a:pPr marL="72390" algn="l">
                        <a:lnSpc>
                          <a:spcPts val="1000"/>
                        </a:lnSpc>
                      </a:pPr>
                      <a:r>
                        <a:rPr spc="-2" sz="1000">
                          <a:solidFill>
                            <a:srgbClr val="000000"/>
                          </a:solidFill>
                          <a:latin typeface="Roboto"/>
                        </a:rPr>
                        <a:t>Restrict record access according to a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</a:p>
                    <a:p>
                      <a:pPr marL="72390" algn="l">
                        <a:lnSpc>
                          <a:spcPts val="1000"/>
                        </a:lnSpc>
                      </a:pPr>
                      <a:r>
                        <a:rPr spc="36" b="1" sz="1000">
                          <a:solidFill>
                            <a:srgbClr val="17365D"/>
                          </a:solidFill>
                          <a:latin typeface="Roboto"/>
                        </a:rPr>
                        <a:t>Development Phase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</a:p>
                    <a:p>
                      <a:pPr marL="72390" algn="l">
                        <a:lnSpc>
                          <a:spcPts val="1000"/>
                        </a:lnSpc>
                      </a:pPr>
                      <a:r>
                        <a:rPr spc="-6" sz="1000">
                          <a:solidFill>
                            <a:srgbClr val="000000"/>
                          </a:solidFill>
                          <a:latin typeface="Roboto"/>
                        </a:rPr>
                        <a:t>Model Performance Test / Project Documentation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</a:p>
                    <a:p>
                      <a:pPr marL="72390" algn="l">
                        <a:lnSpc>
                          <a:spcPts val="1000"/>
                        </a:lnSpc>
                      </a:pPr>
                      <a:r>
                        <a:rPr spc="39" b="1" sz="1000">
                          <a:solidFill>
                            <a:srgbClr val="17365D"/>
                          </a:solidFill>
                          <a:latin typeface="Roboto"/>
                        </a:rPr>
                        <a:t>Prepared For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90"/>
                        </a:lnSpc>
                      </a:pPr>
                    </a:p>
                    <a:p>
                      <a:pPr marL="72390" algn="l">
                        <a:lnSpc>
                          <a:spcPts val="1000"/>
                        </a:lnSpc>
                      </a:pPr>
                      <a:r>
                        <a:rPr spc="-4" sz="1000">
                          <a:solidFill>
                            <a:srgbClr val="000000"/>
                          </a:solidFill>
                          <a:latin typeface="Roboto"/>
                        </a:rPr>
                        <a:t>Project Presentation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3900" y="7669530"/>
            <a:ext cx="59588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900">
                <a:solidFill>
                  <a:srgbClr val="666666"/>
                </a:solidFill>
                <a:latin typeface="Roboto"/>
              </a:rPr>
              <a:t>Note: The uploaded source template identifies the project-development/model-performance testing structure, but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7834630"/>
            <a:ext cx="60731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900">
                <a:solidFill>
                  <a:srgbClr val="666666"/>
                </a:solidFill>
                <a:latin typeface="Roboto"/>
              </a:rPr>
              <a:t>not contain the implementation details of this ACL project. The technical sections below are presented as a clean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7999730"/>
            <a:ext cx="162052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900">
                <a:solidFill>
                  <a:srgbClr val="666666"/>
                </a:solidFill>
                <a:latin typeface="Roboto"/>
              </a:rPr>
              <a:t>draft based on the title supplied.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10325100"/>
            <a:ext cx="3213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00">
                <a:solidFill>
                  <a:srgbClr val="777777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703580"/>
            <a:ext cx="210947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b="1" sz="1800">
                <a:solidFill>
                  <a:srgbClr val="17365D"/>
                </a:solidFill>
                <a:latin typeface="Roboto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1099820"/>
            <a:ext cx="493649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" b="1" sz="1050">
                <a:solidFill>
                  <a:srgbClr val="000000"/>
                </a:solidFill>
                <a:latin typeface="Roboto"/>
              </a:rPr>
              <a:t>Project Title:</a:t>
            </a:r>
            <a:r>
              <a:rPr spc="6" sz="1050">
                <a:solidFill>
                  <a:srgbClr val="000000"/>
                </a:solidFill>
                <a:latin typeface="Roboto"/>
              </a:rPr>
              <a:t> Script Control ACL – Restricted Record Access Based on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404620"/>
            <a:ext cx="58559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The project focuses on controlling access to records by evaluating a selected field value through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620520"/>
            <a:ext cx="587755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ACL script. The access decision is made dynamically so that users can view or interact with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836420"/>
            <a:ext cx="25654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only when the defined condition is satisfied.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150110"/>
            <a:ext cx="8356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300">
                <a:solidFill>
                  <a:srgbClr val="2F5597"/>
                </a:solidFill>
                <a:latin typeface="Roboto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446020"/>
            <a:ext cx="29972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• Restrict unauthorized access to selected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38120"/>
            <a:ext cx="29819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000000"/>
                </a:solidFill>
                <a:latin typeface="Roboto"/>
              </a:rPr>
              <a:t>• Apply access rules based on a record field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030220"/>
            <a:ext cx="299592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Use scripted ACL logic for dynamic authorization.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22320"/>
            <a:ext cx="3677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Provide a clear and maintainable access-control mechanism.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14420"/>
            <a:ext cx="38049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• Validate the behavior using permitted and restricted test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145279"/>
            <a:ext cx="128523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b="1" sz="1300">
                <a:solidFill>
                  <a:srgbClr val="2F5597"/>
                </a:solidFill>
                <a:latin typeface="Roboto"/>
              </a:rPr>
              <a:t>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442460"/>
            <a:ext cx="61074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When the configured field value matches the access condition, the user is allowed to access the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4658360"/>
            <a:ext cx="41871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When it does not match, access is restricted according to the ACL rule.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10325100"/>
            <a:ext cx="3213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00">
                <a:solidFill>
                  <a:srgbClr val="777777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703580"/>
            <a:ext cx="1752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b="1" sz="1800">
                <a:solidFill>
                  <a:srgbClr val="17365D"/>
                </a:solidFill>
                <a:latin typeface="Roboto"/>
              </a:rPr>
              <a:t>2. Working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1108710"/>
            <a:ext cx="16421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300">
                <a:solidFill>
                  <a:srgbClr val="2F5597"/>
                </a:solidFill>
                <a:latin typeface="Roboto"/>
              </a:rPr>
              <a:t>Access-Control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00430" y="1376680"/>
          <a:ext cx="5759448" cy="20573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189"/>
                <a:gridCol w="2339340"/>
                <a:gridCol w="2915919"/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34" b="1" sz="900">
                          <a:solidFill>
                            <a:srgbClr val="FFFFFF"/>
                          </a:solidFill>
                          <a:latin typeface="Roboto"/>
                        </a:rPr>
                        <a:t>Step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1636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73660" algn="l">
                        <a:lnSpc>
                          <a:spcPts val="900"/>
                        </a:lnSpc>
                      </a:pPr>
                      <a:r>
                        <a:rPr spc="33" b="1" sz="900">
                          <a:solidFill>
                            <a:srgbClr val="FFFFFF"/>
                          </a:solidFill>
                          <a:latin typeface="Roboto"/>
                        </a:rPr>
                        <a:t>Process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16365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38" b="1" sz="900">
                          <a:solidFill>
                            <a:srgbClr val="FFFFFF"/>
                          </a:solidFill>
                          <a:latin typeface="Roboto"/>
                        </a:rPr>
                        <a:t>Purpose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16365d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3660" algn="l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000000"/>
                          </a:solidFill>
                          <a:latin typeface="Roboto"/>
                        </a:rPr>
                        <a:t>User requests a record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-2" sz="900">
                          <a:solidFill>
                            <a:srgbClr val="000000"/>
                          </a:solidFill>
                          <a:latin typeface="Roboto"/>
                        </a:rPr>
                        <a:t>Starts the access check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3660" algn="l">
                        <a:lnSpc>
                          <a:spcPts val="900"/>
                        </a:lnSpc>
                      </a:pPr>
                      <a:r>
                        <a:rPr spc="4" sz="900">
                          <a:solidFill>
                            <a:srgbClr val="000000"/>
                          </a:solidFill>
                          <a:latin typeface="Roboto"/>
                        </a:rPr>
                        <a:t>ACL is triggered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1" sz="900">
                          <a:solidFill>
                            <a:srgbClr val="000000"/>
                          </a:solidFill>
                          <a:latin typeface="Roboto"/>
                        </a:rPr>
                        <a:t>Checks the applicable access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3660" algn="l">
                        <a:lnSpc>
                          <a:spcPts val="900"/>
                        </a:lnSpc>
                      </a:pPr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Script reads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Obtains the value used for authorization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3660" algn="l">
                        <a:lnSpc>
                          <a:spcPts val="900"/>
                        </a:lnSpc>
                      </a:pPr>
                      <a:r>
                        <a:rPr spc="-1" sz="900">
                          <a:solidFill>
                            <a:srgbClr val="000000"/>
                          </a:solidFill>
                          <a:latin typeface="Roboto"/>
                        </a:rPr>
                        <a:t>Condition is evaluated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0" sz="900">
                          <a:solidFill>
                            <a:srgbClr val="000000"/>
                          </a:solidFill>
                          <a:latin typeface="Roboto"/>
                        </a:rPr>
                        <a:t>Compares the value with the configured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  <a:tr h="342899"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3660" algn="l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000000"/>
                          </a:solidFill>
                          <a:latin typeface="Roboto"/>
                        </a:rPr>
                        <a:t>Access decision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60"/>
                        </a:lnSpc>
                      </a:pPr>
                    </a:p>
                    <a:p>
                      <a:pPr marL="72390" algn="l">
                        <a:lnSpc>
                          <a:spcPts val="900"/>
                        </a:lnSpc>
                      </a:pPr>
                      <a:r>
                        <a:rPr spc="-6" sz="900">
                          <a:solidFill>
                            <a:srgbClr val="000000"/>
                          </a:solidFill>
                          <a:latin typeface="Roboto"/>
                        </a:rPr>
                        <a:t>Allow or restrict record access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f6f9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3900" y="3821429"/>
            <a:ext cx="11468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300">
                <a:solidFill>
                  <a:srgbClr val="2F5597"/>
                </a:solidFill>
                <a:latin typeface="Roboto"/>
              </a:rPr>
              <a:t>Logic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118610"/>
            <a:ext cx="60845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b="1" sz="1050">
                <a:solidFill>
                  <a:srgbClr val="000000"/>
                </a:solidFill>
                <a:latin typeface="Roboto"/>
              </a:rPr>
              <a:t>IF</a:t>
            </a:r>
            <a:r>
              <a:rPr spc="-8" sz="1050">
                <a:solidFill>
                  <a:srgbClr val="000000"/>
                </a:solidFill>
                <a:latin typeface="Roboto"/>
              </a:rPr>
              <a:t> the record field satisfies the configured condition </a:t>
            </a:r>
            <a:r>
              <a:rPr spc="34" b="1" sz="1050">
                <a:solidFill>
                  <a:srgbClr val="000000"/>
                </a:solidFill>
                <a:latin typeface="Roboto"/>
              </a:rPr>
              <a:t>THEN</a:t>
            </a:r>
            <a:r>
              <a:rPr spc="-2" sz="1050">
                <a:solidFill>
                  <a:srgbClr val="000000"/>
                </a:solidFill>
                <a:latin typeface="Roboto"/>
              </a:rPr>
              <a:t> permit the requested operation </a:t>
            </a:r>
            <a:r>
              <a:rPr spc="89" b="1" sz="1050">
                <a:solidFill>
                  <a:srgbClr val="000000"/>
                </a:solidFill>
                <a:latin typeface="Roboto"/>
              </a:rPr>
              <a:t>ELSE</a:t>
            </a:r>
            <a:r>
              <a:rPr spc="-14" sz="1050">
                <a:solidFill>
                  <a:srgbClr val="000000"/>
                </a:solidFill>
                <a:latin typeface="Roboto"/>
              </a:rPr>
              <a:t> restrict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334510"/>
            <a:ext cx="8153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the operation.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639310"/>
            <a:ext cx="59893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This structure keeps the access decision close to the data condition and allows the rule to be adapted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855210"/>
            <a:ext cx="24307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when the business requirement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10325100"/>
            <a:ext cx="3213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00">
                <a:solidFill>
                  <a:srgbClr val="777777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703580"/>
            <a:ext cx="443357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b="1" sz="1800">
                <a:solidFill>
                  <a:srgbClr val="17365D"/>
                </a:solidFill>
                <a:latin typeface="Roboto"/>
              </a:rPr>
              <a:t>3. Scripted ACL Implementation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1099820"/>
            <a:ext cx="58699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The implementation uses an ACL script to evaluate a record field before granting access. The exact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315720"/>
            <a:ext cx="609345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table name, field name, value, and ACL operation should be replaced with the values used in the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31620"/>
            <a:ext cx="12382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sz="1050">
                <a:solidFill>
                  <a:srgbClr val="000000"/>
                </a:solidFill>
                <a:latin typeface="Roboto"/>
              </a:rPr>
              <a:t>project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845310"/>
            <a:ext cx="13119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300">
                <a:solidFill>
                  <a:srgbClr val="2F5597"/>
                </a:solidFill>
                <a:latin typeface="Roboto"/>
              </a:rPr>
              <a:t>Illustrative Logic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0430" y="2113280"/>
          <a:ext cx="5759450" cy="2197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9450"/>
              </a:tblGrid>
              <a:tr h="2197099">
                <a:tc>
                  <a:txBody>
                    <a:bodyPr/>
                    <a:lstStyle/>
                    <a:p>
                      <a:pPr>
                        <a:lnSpc>
                          <a:spcPts val="570"/>
                        </a:lnSpc>
                      </a:pPr>
                    </a:p>
                    <a:p>
                      <a:pPr marL="121920" algn="l">
                        <a:lnSpc>
                          <a:spcPts val="1700"/>
                        </a:lnSpc>
                      </a:pPr>
                      <a:r>
                        <a:rPr spc="144" sz="1050">
                          <a:solidFill>
                            <a:srgbClr val="000000"/>
                          </a:solidFill>
                          <a:latin typeface="Roboto"/>
                        </a:rPr>
                        <a:t>function checkAccess() {</a:t>
                      </a:r>
                      <a:br/>
                      <a:r>
                        <a:rPr spc="196" sz="1050">
                          <a:solidFill>
                            <a:srgbClr val="000000"/>
                          </a:solidFill>
                          <a:latin typeface="Roboto"/>
                        </a:rPr>
                        <a:t>var fieldValue = current.;</a:t>
                      </a:r>
                    </a:p>
                    <a:p>
                      <a:pPr marL="121920" algn="l">
                        <a:lnSpc>
                          <a:spcPts val="1700"/>
                        </a:lnSpc>
                        <a:spcBef>
                          <a:spcPts val="1700"/>
                        </a:spcBef>
                      </a:pPr>
                      <a:r>
                        <a:rPr spc="242" sz="1050">
                          <a:solidFill>
                            <a:srgbClr val="000000"/>
                          </a:solidFill>
                          <a:latin typeface="Roboto"/>
                        </a:rPr>
                        <a:t>if (fieldValue == '') {</a:t>
                      </a:r>
                      <a:br/>
                      <a:r>
                        <a:rPr spc="206" sz="1050">
                          <a:solidFill>
                            <a:srgbClr val="000000"/>
                          </a:solidFill>
                          <a:latin typeface="Roboto"/>
                        </a:rPr>
                        <a:t>return true;</a:t>
                      </a:r>
                      <a:br/>
                      <a:r>
                        <a:rPr spc="274" sz="1050">
                          <a:solidFill>
                            <a:srgbClr val="000000"/>
                          </a:solidFill>
                          <a:latin typeface="Roboto"/>
                        </a:rPr>
                        <a:t>}</a:t>
                      </a:r>
                    </a:p>
                    <a:p>
                      <a:pPr marL="121920" algn="l">
                        <a:lnSpc>
                          <a:spcPts val="1700"/>
                        </a:lnSpc>
                        <a:spcBef>
                          <a:spcPts val="1700"/>
                        </a:spcBef>
                      </a:pPr>
                      <a:r>
                        <a:rPr spc="203" sz="1050">
                          <a:solidFill>
                            <a:srgbClr val="000000"/>
                          </a:solidFill>
                          <a:latin typeface="Roboto"/>
                        </a:rPr>
                        <a:t>return false;</a:t>
                      </a:r>
                      <a:br/>
                      <a:r>
                        <a:rPr spc="274" sz="1050">
                          <a:solidFill>
                            <a:srgbClr val="000000"/>
                          </a:solidFill>
                          <a:latin typeface="Roboto"/>
                        </a:rPr>
                        <a:t>}</a:t>
                      </a:r>
                    </a:p>
                  </a:txBody>
                  <a:tcPr marL="0" marR="0" marT="0" marB="0" vert="horz">
                    <a:lnL w="4445" cap="flat" cmpd="sng" algn="ctr">
                      <a:solidFill>
                        <a:srgbClr val="aab1bc">
                          <a:alpha val="100000"/>
                        </a:srgbClr>
                      </a:solidFill>
                    </a:lnL>
                    <a:lnR w="4444" cap="flat" cmpd="sng" algn="ctr">
                      <a:solidFill>
                        <a:srgbClr val="aab1bc">
                          <a:alpha val="100000"/>
                        </a:srgbClr>
                      </a:solidFill>
                    </a:lnR>
                    <a:lnT w="4445" cap="flat" cmpd="sng" algn="ctr">
                      <a:solidFill>
                        <a:srgbClr val="aab1bc">
                          <a:alpha val="100000"/>
                        </a:srgbClr>
                      </a:solidFill>
                    </a:lnT>
                    <a:lnB w="4444" cap="flat" cmpd="sng" algn="ctr">
                      <a:solidFill>
                        <a:srgbClr val="aab1bc">
                          <a:alpha val="100000"/>
                        </a:srgbClr>
                      </a:solidFill>
                    </a:lnB>
                    <a:solidFill>
                      <a:srgbClr val="f0f2f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3900" y="4662170"/>
            <a:ext cx="186308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300">
                <a:solidFill>
                  <a:srgbClr val="2F5597"/>
                </a:solidFill>
                <a:latin typeface="Roboto"/>
              </a:rPr>
              <a:t>Configuration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959350"/>
            <a:ext cx="24409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• Identify the target table and record 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251450"/>
            <a:ext cx="22707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050">
                <a:solidFill>
                  <a:srgbClr val="000000"/>
                </a:solidFill>
                <a:latin typeface="Roboto"/>
              </a:rPr>
              <a:t>• Identify the field that controls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543550"/>
            <a:ext cx="20104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• Define the allowed field value(s).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5835650"/>
            <a:ext cx="24638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• Apply the ACL to the required operation.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6127750"/>
            <a:ext cx="259587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• Test both permitted and restricted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6419850"/>
            <a:ext cx="42633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• Confirm that users without access cannot retrieve the restricted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10325100"/>
            <a:ext cx="3213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00">
                <a:solidFill>
                  <a:srgbClr val="777777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703580"/>
            <a:ext cx="245237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800">
                <a:solidFill>
                  <a:srgbClr val="17365D"/>
                </a:solidFill>
                <a:latin typeface="Roboto"/>
              </a:rPr>
              <a:t>4.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1099820"/>
            <a:ext cx="56184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The uploaded project template asks for model summary, training accuracy, validation accuracy,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315720"/>
            <a:ext cx="59588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fine-tuning results (if done), and screenshots. For this ACL project, the equivalent validation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31620"/>
            <a:ext cx="406907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should focus on access-control behavior rather than model accuracy.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430" y="1808480"/>
          <a:ext cx="5759448" cy="1650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0959"/>
                <a:gridCol w="1369060"/>
                <a:gridCol w="1619250"/>
                <a:gridCol w="1440179"/>
              </a:tblGrid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24" b="1" sz="850">
                          <a:solidFill>
                            <a:srgbClr val="FFFFFF"/>
                          </a:solidFill>
                          <a:latin typeface="Roboto"/>
                        </a:rPr>
                        <a:t>Test Case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2f549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30" b="1" sz="850">
                          <a:solidFill>
                            <a:srgbClr val="FFFFFF"/>
                          </a:solidFill>
                          <a:latin typeface="Roboto"/>
                        </a:rPr>
                        <a:t>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2f549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34" b="1" sz="850">
                          <a:solidFill>
                            <a:srgbClr val="FFFFFF"/>
                          </a:solidFill>
                          <a:latin typeface="Roboto"/>
                        </a:rPr>
                        <a:t>Expected Access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2f549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40" b="1" sz="850">
                          <a:solidFill>
                            <a:srgbClr val="FFFFFF"/>
                          </a:solidFill>
                          <a:latin typeface="Roboto"/>
                        </a:rPr>
                        <a:t>Observed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solidFill>
                      <a:srgbClr val="2f5497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-2" sz="850">
                          <a:solidFill>
                            <a:srgbClr val="000000"/>
                          </a:solidFill>
                          <a:latin typeface="Roboto"/>
                        </a:rPr>
                        <a:t>1. Allowed record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1" sz="850">
                          <a:solidFill>
                            <a:srgbClr val="000000"/>
                          </a:solidFill>
                          <a:latin typeface="Roboto"/>
                        </a:rPr>
                        <a:t>Allowed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-8" sz="850">
                          <a:solidFill>
                            <a:srgbClr val="000000"/>
                          </a:solidFill>
                          <a:latin typeface="Roboto"/>
                        </a:rPr>
                        <a:t>Access permitted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To be filled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000000"/>
                          </a:solidFill>
                          <a:latin typeface="Roboto"/>
                        </a:rPr>
                        <a:t>2. Restricted record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3" sz="850">
                          <a:solidFill>
                            <a:srgbClr val="000000"/>
                          </a:solidFill>
                          <a:latin typeface="Roboto"/>
                        </a:rPr>
                        <a:t>Restricted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000000"/>
                          </a:solidFill>
                          <a:latin typeface="Roboto"/>
                        </a:rPr>
                        <a:t>Access 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To be filled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000000"/>
                          </a:solidFill>
                          <a:latin typeface="Roboto"/>
                        </a:rPr>
                        <a:t>3. Boundary/changed valu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0" algn="l">
                        <a:lnSpc>
                          <a:spcPts val="850"/>
                        </a:lnSpc>
                      </a:pPr>
                      <a:r>
                        <a:rPr spc="5" sz="850">
                          <a:solidFill>
                            <a:srgbClr val="000000"/>
                          </a:solidFill>
                          <a:latin typeface="Roboto"/>
                        </a:rPr>
                        <a:t>e Other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-4" sz="850">
                          <a:solidFill>
                            <a:srgbClr val="000000"/>
                          </a:solidFill>
                          <a:latin typeface="Roboto"/>
                        </a:rPr>
                        <a:t>Access according to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To be filled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199"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4" sz="850">
                          <a:solidFill>
                            <a:srgbClr val="000000"/>
                          </a:solidFill>
                          <a:latin typeface="Roboto"/>
                        </a:rPr>
                        <a:t>4. Unauthorized user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000000"/>
                          </a:solidFill>
                          <a:latin typeface="Roboto"/>
                        </a:rPr>
                        <a:t>Any restricted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2390" algn="l">
                        <a:lnSpc>
                          <a:spcPts val="850"/>
                        </a:lnSpc>
                      </a:pPr>
                      <a:r>
                        <a:rPr spc="0" sz="850">
                          <a:solidFill>
                            <a:srgbClr val="000000"/>
                          </a:solidFill>
                          <a:latin typeface="Roboto"/>
                        </a:rPr>
                        <a:t>Access 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50"/>
                        </a:lnSpc>
                      </a:pPr>
                    </a:p>
                    <a:p>
                      <a:pPr marL="73660" algn="l">
                        <a:lnSpc>
                          <a:spcPts val="850"/>
                        </a:lnSpc>
                      </a:pPr>
                      <a:r>
                        <a:rPr spc="-3" sz="850">
                          <a:solidFill>
                            <a:srgbClr val="000000"/>
                          </a:solidFill>
                          <a:latin typeface="Roboto"/>
                        </a:rPr>
                        <a:t>To be filled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b8b8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b8b8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b8b8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b8b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3900" y="3846829"/>
            <a:ext cx="35331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300">
                <a:solidFill>
                  <a:srgbClr val="2F5597"/>
                </a:solidFill>
                <a:latin typeface="Roboto"/>
              </a:rPr>
              <a:t>Model Performance Test Template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144010"/>
            <a:ext cx="59956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The uploaded template is titled “Project Development Phase – Model Performance Test” and contains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359910"/>
            <a:ext cx="60477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fields for model summary, training accuracy, validation accuracy, and fine-tuning results. Those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575810"/>
            <a:ext cx="52844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fields are preserved as reference, while this document adapts the validation section to 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791710"/>
            <a:ext cx="28981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050">
                <a:solidFill>
                  <a:srgbClr val="000000"/>
                </a:solidFill>
                <a:latin typeface="Roboto"/>
              </a:rPr>
              <a:t>access-control nature of the supplied project title.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10325100"/>
            <a:ext cx="3213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00">
                <a:solidFill>
                  <a:srgbClr val="777777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703580"/>
            <a:ext cx="149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b="1" sz="1800">
                <a:solidFill>
                  <a:srgbClr val="17365D"/>
                </a:solidFill>
                <a:latin typeface="Roboto"/>
              </a:rPr>
              <a:t>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1099820"/>
            <a:ext cx="60998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The proposed Script Control ACL provides a field-value-based mechanism for restricting record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315720"/>
            <a:ext cx="60185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By evaluating the relevant field during authorization, the project can enforce a clear rule for allowing 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31620"/>
            <a:ext cx="9563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denying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845310"/>
            <a:ext cx="10007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300">
                <a:solidFill>
                  <a:srgbClr val="2F5597"/>
                </a:solidFill>
                <a:latin typeface="Roboto"/>
              </a:rPr>
              <a:t>Key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141220"/>
            <a:ext cx="29146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• Dynamic access decision based on record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433320"/>
            <a:ext cx="26924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• Centralized authorization logic through ACL.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25420"/>
            <a:ext cx="245617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• Reduced exposure of restricted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017520"/>
            <a:ext cx="33223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050">
                <a:solidFill>
                  <a:srgbClr val="000000"/>
                </a:solidFill>
                <a:latin typeface="Roboto"/>
              </a:rPr>
              <a:t>• Easier testing through explicit allowed/restricted cases.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09620"/>
            <a:ext cx="38709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000000"/>
                </a:solidFill>
                <a:latin typeface="Roboto"/>
              </a:rPr>
              <a:t>• Can be extended when additional field-based rules are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948429"/>
            <a:ext cx="31838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300">
                <a:solidFill>
                  <a:srgbClr val="2F5597"/>
                </a:solidFill>
                <a:latin typeface="Roboto"/>
              </a:rPr>
              <a:t>Project Details to Fill Before Submission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0430" y="4216400"/>
          <a:ext cx="5759450" cy="231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1300"/>
                <a:gridCol w="4248150"/>
              </a:tblGrid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21" b="1" sz="950">
                          <a:solidFill>
                            <a:srgbClr val="000000"/>
                          </a:solidFill>
                          <a:latin typeface="Roboto"/>
                        </a:rPr>
                        <a:t>Team ID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99" sz="950">
                          <a:solidFill>
                            <a:srgbClr val="000000"/>
                          </a:solidFill>
                          <a:latin typeface="Roboto"/>
                        </a:rPr>
                        <a:t>____________________________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25" b="1" sz="950">
                          <a:solidFill>
                            <a:srgbClr val="000000"/>
                          </a:solidFill>
                          <a:latin typeface="Roboto"/>
                        </a:rPr>
                        <a:t>Project Name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5" sz="950">
                          <a:solidFill>
                            <a:srgbClr val="000000"/>
                          </a:solidFill>
                          <a:latin typeface="Roboto"/>
                        </a:rPr>
                        <a:t>Script Control ACL – Restricted Record Access Based on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21" b="1" sz="950">
                          <a:solidFill>
                            <a:srgbClr val="000000"/>
                          </a:solidFill>
                          <a:latin typeface="Roboto"/>
                        </a:rPr>
                        <a:t>Table Name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99" sz="950">
                          <a:solidFill>
                            <a:srgbClr val="000000"/>
                          </a:solidFill>
                          <a:latin typeface="Roboto"/>
                        </a:rPr>
                        <a:t>____________________________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26" b="1" sz="950">
                          <a:solidFill>
                            <a:srgbClr val="000000"/>
                          </a:solidFill>
                          <a:latin typeface="Roboto"/>
                        </a:rPr>
                        <a:t>Field Name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99" sz="950">
                          <a:solidFill>
                            <a:srgbClr val="000000"/>
                          </a:solidFill>
                          <a:latin typeface="Roboto"/>
                        </a:rPr>
                        <a:t>____________________________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34" b="1" sz="950">
                          <a:solidFill>
                            <a:srgbClr val="000000"/>
                          </a:solidFill>
                          <a:latin typeface="Roboto"/>
                        </a:rPr>
                        <a:t>Allowed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99" sz="950">
                          <a:solidFill>
                            <a:srgbClr val="000000"/>
                          </a:solidFill>
                          <a:latin typeface="Roboto"/>
                        </a:rPr>
                        <a:t>____________________________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44" b="1" sz="950">
                          <a:solidFill>
                            <a:srgbClr val="000000"/>
                          </a:solidFill>
                          <a:latin typeface="Roboto"/>
                        </a:rPr>
                        <a:t>ACL Operation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99" sz="950">
                          <a:solidFill>
                            <a:srgbClr val="000000"/>
                          </a:solidFill>
                          <a:latin typeface="Roboto"/>
                        </a:rPr>
                        <a:t>____________________________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38" b="1" sz="950">
                          <a:solidFill>
                            <a:srgbClr val="000000"/>
                          </a:solidFill>
                          <a:latin typeface="Roboto"/>
                        </a:rPr>
                        <a:t>Screenshots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solidFill>
                      <a:srgbClr val="e9f0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7" sz="950">
                          <a:solidFill>
                            <a:srgbClr val="000000"/>
                          </a:solidFill>
                          <a:latin typeface="Roboto"/>
                        </a:rPr>
                        <a:t>Attach implementation and test-result screenshots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6c8e2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6c8e2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6c8e2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6c8e2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3900" y="6988809"/>
            <a:ext cx="576199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900">
                <a:solidFill>
                  <a:srgbClr val="666666"/>
                </a:solidFill>
                <a:latin typeface="Roboto"/>
              </a:rPr>
              <a:t>Source basis: uploaded project-development/model-performance template. Implementation-specific values remain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7153909"/>
            <a:ext cx="31381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900">
                <a:solidFill>
                  <a:srgbClr val="666666"/>
                </a:solidFill>
                <a:latin typeface="Roboto"/>
              </a:rPr>
              <a:t>placeholders because they were not present in the source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10325100"/>
            <a:ext cx="3213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800">
                <a:solidFill>
                  <a:srgbClr val="777777"/>
                </a:solidFill>
                <a:latin typeface="Roboto"/>
              </a:rPr>
              <a:t>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