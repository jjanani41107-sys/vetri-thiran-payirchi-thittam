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6290" y="844550"/>
            <a:ext cx="203962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700">
                <a:solidFill>
                  <a:srgbClr val="1F3A5F"/>
                </a:solidFill>
                <a:latin typeface="Roboto"/>
              </a:rPr>
              <a:t>Acceptance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6290" y="1131570"/>
            <a:ext cx="22821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100">
                <a:solidFill>
                  <a:srgbClr val="808080"/>
                </a:solidFill>
                <a:latin typeface="Roboto"/>
              </a:rPr>
              <a:t>UAT Execution &amp; Report Submission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90" y="1380490"/>
          <a:ext cx="6120130" cy="11429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180"/>
                <a:gridCol w="4679950"/>
              </a:tblGrid>
              <a:tr h="285749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13" sz="950">
                          <a:solidFill>
                            <a:srgbClr val="000000"/>
                          </a:solidFill>
                          <a:latin typeface="Roboto"/>
                        </a:rPr>
                        <a:t>Date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3" sz="950">
                          <a:solidFill>
                            <a:srgbClr val="000000"/>
                          </a:solidFill>
                          <a:latin typeface="Roboto"/>
                        </a:rPr>
                        <a:t>30 September 2026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14" sz="950">
                          <a:solidFill>
                            <a:srgbClr val="000000"/>
                          </a:solidFill>
                          <a:latin typeface="Roboto"/>
                        </a:rPr>
                        <a:t>Team ID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17" sz="950">
                          <a:solidFill>
                            <a:srgbClr val="000000"/>
                          </a:solidFill>
                          <a:latin typeface="Roboto"/>
                        </a:rPr>
                        <a:t>SWTID-2026-3425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2" sz="950">
                          <a:solidFill>
                            <a:srgbClr val="000000"/>
                          </a:solidFill>
                          <a:latin typeface="Roboto"/>
                        </a:rPr>
                        <a:t>Project Name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5" sz="950">
                          <a:solidFill>
                            <a:srgbClr val="000000"/>
                          </a:solidFill>
                          <a:latin typeface="Roboto"/>
                        </a:rPr>
                        <a:t>Script-Controlled ACL – Restrict Record Access Based on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2" sz="950">
                          <a:solidFill>
                            <a:srgbClr val="000000"/>
                          </a:solidFill>
                          <a:latin typeface="Roboto"/>
                        </a:rPr>
                        <a:t>Maximum Marks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5" sz="950">
                          <a:solidFill>
                            <a:srgbClr val="000000"/>
                          </a:solidFill>
                          <a:latin typeface="Roboto"/>
                        </a:rPr>
                        <a:t>4 Marks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6290" y="2736850"/>
            <a:ext cx="18262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250">
                <a:solidFill>
                  <a:srgbClr val="1F3A5F"/>
                </a:solidFill>
                <a:latin typeface="Roboto"/>
              </a:rPr>
              <a:t>1. Purpose of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6290" y="3022600"/>
            <a:ext cx="533654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050">
                <a:solidFill>
                  <a:srgbClr val="000000"/>
                </a:solidFill>
                <a:latin typeface="Roboto"/>
              </a:rPr>
              <a:t>The purpose of this document is to briefly explain the test coverage and open issues of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290" y="3213100"/>
            <a:ext cx="589153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050">
                <a:solidFill>
                  <a:srgbClr val="000000"/>
                </a:solidFill>
                <a:latin typeface="Roboto"/>
              </a:rPr>
              <a:t>Script-Controlled ACL – Restrict Record Access Based on Field Value</a:t>
            </a:r>
            <a:r>
              <a:rPr spc="-6" sz="1050">
                <a:solidFill>
                  <a:srgbClr val="000000"/>
                </a:solidFill>
                <a:latin typeface="Roboto"/>
              </a:rPr>
              <a:t> project at the time of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290" y="3403600"/>
            <a:ext cx="254127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050">
                <a:solidFill>
                  <a:srgbClr val="000000"/>
                </a:solidFill>
                <a:latin typeface="Roboto"/>
              </a:rPr>
              <a:t>release to User Acceptance Testing (UAT).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290" y="3778250"/>
            <a:ext cx="1358899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0" b="1" sz="1250">
                <a:solidFill>
                  <a:srgbClr val="1F3A5F"/>
                </a:solidFill>
                <a:latin typeface="Roboto"/>
              </a:rPr>
              <a:t>2. Defect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290" y="4064000"/>
            <a:ext cx="583311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050">
                <a:solidFill>
                  <a:srgbClr val="000000"/>
                </a:solidFill>
                <a:latin typeface="Roboto"/>
              </a:rPr>
              <a:t>This report shows the number of resolved or closed bugs at each severity level, and how they were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6290" y="4254500"/>
            <a:ext cx="541019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050">
                <a:solidFill>
                  <a:srgbClr val="000000"/>
                </a:solidFill>
                <a:latin typeface="Roboto"/>
              </a:rPr>
              <a:t>resolved.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900430" y="4491990"/>
          <a:ext cx="5759449" cy="2571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180"/>
                <a:gridCol w="863600"/>
                <a:gridCol w="863600"/>
                <a:gridCol w="863600"/>
                <a:gridCol w="864869"/>
                <a:gridCol w="863600"/>
              </a:tblGrid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42" b="1" sz="950">
                          <a:solidFill>
                            <a:srgbClr val="FFFFFF"/>
                          </a:solidFill>
                          <a:latin typeface="Roboto"/>
                        </a:rPr>
                        <a:t>Resolution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6" b="1" sz="950">
                          <a:solidFill>
                            <a:srgbClr val="FFFFFF"/>
                          </a:solidFill>
                          <a:latin typeface="Roboto"/>
                        </a:rPr>
                        <a:t>Severity 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7" b="1" sz="950">
                          <a:solidFill>
                            <a:srgbClr val="FFFFFF"/>
                          </a:solidFill>
                          <a:latin typeface="Roboto"/>
                        </a:rPr>
                        <a:t>Severity 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7" b="1" sz="950">
                          <a:solidFill>
                            <a:srgbClr val="FFFFFF"/>
                          </a:solidFill>
                          <a:latin typeface="Roboto"/>
                        </a:rPr>
                        <a:t>Severity 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7" b="1" sz="950">
                          <a:solidFill>
                            <a:srgbClr val="FFFFFF"/>
                          </a:solidFill>
                          <a:latin typeface="Roboto"/>
                        </a:rPr>
                        <a:t>Severity 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33" b="1" sz="950">
                          <a:solidFill>
                            <a:srgbClr val="FFFFFF"/>
                          </a:solidFill>
                          <a:latin typeface="Roboto"/>
                        </a:rPr>
                        <a:t>Subtotal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16" sz="950">
                          <a:solidFill>
                            <a:srgbClr val="000000"/>
                          </a:solidFill>
                          <a:latin typeface="Roboto"/>
                        </a:rPr>
                        <a:t>By Design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2" sz="950">
                          <a:solidFill>
                            <a:srgbClr val="000000"/>
                          </a:solidFill>
                          <a:latin typeface="Roboto"/>
                        </a:rPr>
                        <a:t>Duplicate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7" sz="950">
                          <a:solidFill>
                            <a:srgbClr val="000000"/>
                          </a:solidFill>
                          <a:latin typeface="Roboto"/>
                        </a:rPr>
                        <a:t>External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10" sz="950">
                          <a:solidFill>
                            <a:srgbClr val="000000"/>
                          </a:solidFill>
                          <a:latin typeface="Roboto"/>
                        </a:rPr>
                        <a:t>Fixed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4" sz="950">
                          <a:solidFill>
                            <a:srgbClr val="000000"/>
                          </a:solidFill>
                          <a:latin typeface="Roboto"/>
                        </a:rPr>
                        <a:t>Not Reproduced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6" sz="950">
                          <a:solidFill>
                            <a:srgbClr val="000000"/>
                          </a:solidFill>
                          <a:latin typeface="Roboto"/>
                        </a:rPr>
                        <a:t>Skipped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8" sz="950">
                          <a:solidFill>
                            <a:srgbClr val="000000"/>
                          </a:solidFill>
                          <a:latin typeface="Roboto"/>
                        </a:rPr>
                        <a:t>Won't Fix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9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22" b="1" sz="950">
                          <a:solidFill>
                            <a:srgbClr val="000000"/>
                          </a:solidFill>
                          <a:latin typeface="Roboto"/>
                        </a:rPr>
                        <a:t>Totals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14" b="1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96290" y="7277100"/>
            <a:ext cx="1623060" cy="1587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250">
                <a:solidFill>
                  <a:srgbClr val="1F3A5F"/>
                </a:solidFill>
                <a:latin typeface="Roboto"/>
              </a:rPr>
              <a:t>3. Test Case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290" y="7562850"/>
            <a:ext cx="4876800" cy="1333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050">
                <a:solidFill>
                  <a:srgbClr val="000000"/>
                </a:solidFill>
                <a:latin typeface="Roboto"/>
              </a:rPr>
              <a:t>This report shows the number of test cases that have passed, failed, and untested.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55650" y="7800340"/>
          <a:ext cx="6047739" cy="2000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270"/>
                <a:gridCol w="1008380"/>
                <a:gridCol w="1007110"/>
                <a:gridCol w="935989"/>
                <a:gridCol w="935990"/>
              </a:tblGrid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6" b="1" sz="950">
                          <a:solidFill>
                            <a:srgbClr val="FFFFFF"/>
                          </a:solidFill>
                          <a:latin typeface="Roboto"/>
                        </a:rPr>
                        <a:t>Section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27" b="1" sz="950">
                          <a:solidFill>
                            <a:srgbClr val="FFFFFF"/>
                          </a:solidFill>
                          <a:latin typeface="Roboto"/>
                        </a:rPr>
                        <a:t>Total Cases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23" b="1" sz="950">
                          <a:solidFill>
                            <a:srgbClr val="FFFFFF"/>
                          </a:solidFill>
                          <a:latin typeface="Roboto"/>
                        </a:rPr>
                        <a:t>Not Tested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34" b="1" sz="950">
                          <a:solidFill>
                            <a:srgbClr val="FFFFFF"/>
                          </a:solidFill>
                          <a:latin typeface="Roboto"/>
                        </a:rPr>
                        <a:t>Fail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30" b="1" sz="950">
                          <a:solidFill>
                            <a:srgbClr val="FFFFFF"/>
                          </a:solidFill>
                          <a:latin typeface="Roboto"/>
                        </a:rPr>
                        <a:t>Pass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1f3a5e">
                        <a:alpha val="100000"/>
                      </a:srgbClr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5" sz="950">
                          <a:solidFill>
                            <a:srgbClr val="000000"/>
                          </a:solidFill>
                          <a:latin typeface="Roboto"/>
                        </a:rPr>
                        <a:t>Environment Setup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1" sz="950">
                          <a:solidFill>
                            <a:srgbClr val="000000"/>
                          </a:solidFill>
                          <a:latin typeface="Roboto"/>
                        </a:rPr>
                        <a:t>ACL Configuration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Access Testing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6" sz="950">
                          <a:solidFill>
                            <a:srgbClr val="000000"/>
                          </a:solidFill>
                          <a:latin typeface="Roboto"/>
                        </a:rPr>
                        <a:t>Security Debugging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2" sz="950">
                          <a:solidFill>
                            <a:srgbClr val="000000"/>
                          </a:solidFill>
                          <a:latin typeface="Roboto"/>
                        </a:rPr>
                        <a:t>Documentation Review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sz="95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noFill/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23" b="1" sz="950">
                          <a:solidFill>
                            <a:srgbClr val="000000"/>
                          </a:solidFill>
                          <a:latin typeface="Roboto"/>
                        </a:rPr>
                        <a:t>Totals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239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0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80"/>
                        </a:lnSpc>
                      </a:pPr>
                    </a:p>
                    <a:p>
                      <a:pPr marL="73660" algn="l">
                        <a:lnSpc>
                          <a:spcPts val="950"/>
                        </a:lnSpc>
                      </a:pPr>
                      <a:r>
                        <a:rPr spc="-4" b="1" sz="950">
                          <a:solidFill>
                            <a:srgbClr val="000000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9aa8b5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9aa8b5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9aa8b5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9aa8b5">
                          <a:alpha val="100000"/>
                        </a:srgbClr>
                      </a:solidFill>
                    </a:lnB>
                    <a:solidFill>
                      <a:srgbClr val="edf2f8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20090" y="10215880"/>
            <a:ext cx="196468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800">
                <a:solidFill>
                  <a:srgbClr val="808080"/>
                </a:solidFill>
                <a:latin typeface="Roboto"/>
              </a:rPr>
              <a:t>Acceptance Testing - Script-Controlled ACL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7640" y="10215880"/>
            <a:ext cx="3225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800">
                <a:solidFill>
                  <a:srgbClr val="808080"/>
                </a:solidFill>
                <a:latin typeface="Roboto"/>
              </a:rPr>
              <a:t>Page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